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  <p:sldMasterId id="2147483668" r:id="rId2"/>
  </p:sldMasterIdLst>
  <p:notesMasterIdLst>
    <p:notesMasterId r:id="rId48"/>
  </p:notesMasterIdLst>
  <p:sldIdLst>
    <p:sldId id="293" r:id="rId3"/>
    <p:sldId id="294" r:id="rId4"/>
    <p:sldId id="258" r:id="rId5"/>
    <p:sldId id="259" r:id="rId6"/>
    <p:sldId id="282" r:id="rId7"/>
    <p:sldId id="260" r:id="rId8"/>
    <p:sldId id="295" r:id="rId9"/>
    <p:sldId id="296" r:id="rId10"/>
    <p:sldId id="261" r:id="rId11"/>
    <p:sldId id="262" r:id="rId12"/>
    <p:sldId id="263" r:id="rId13"/>
    <p:sldId id="264" r:id="rId14"/>
    <p:sldId id="265" r:id="rId15"/>
    <p:sldId id="266" r:id="rId16"/>
    <p:sldId id="297" r:id="rId17"/>
    <p:sldId id="268" r:id="rId18"/>
    <p:sldId id="269" r:id="rId19"/>
    <p:sldId id="270" r:id="rId20"/>
    <p:sldId id="298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9" r:id="rId29"/>
    <p:sldId id="272" r:id="rId30"/>
    <p:sldId id="273" r:id="rId31"/>
    <p:sldId id="274" r:id="rId32"/>
    <p:sldId id="275" r:id="rId33"/>
    <p:sldId id="302" r:id="rId34"/>
    <p:sldId id="276" r:id="rId35"/>
    <p:sldId id="277" r:id="rId36"/>
    <p:sldId id="278" r:id="rId37"/>
    <p:sldId id="279" r:id="rId38"/>
    <p:sldId id="280" r:id="rId39"/>
    <p:sldId id="281" r:id="rId40"/>
    <p:sldId id="303" r:id="rId41"/>
    <p:sldId id="304" r:id="rId42"/>
    <p:sldId id="305" r:id="rId43"/>
    <p:sldId id="306" r:id="rId44"/>
    <p:sldId id="307" r:id="rId45"/>
    <p:sldId id="308" r:id="rId46"/>
    <p:sldId id="309" r:id="rId47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49"/>
      <p:bold r:id="rId50"/>
      <p:italic r:id="rId51"/>
      <p:boldItalic r:id="rId52"/>
    </p:embeddedFont>
    <p:embeddedFont>
      <p:font typeface="Trebuchet MS" panose="020B0603020202020204" pitchFamily="34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4E6396-132D-4A47-AE8E-B7310185C481}">
  <a:tblStyle styleId="{074E6396-132D-4A47-AE8E-B7310185C4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A3A4B79-66B9-4357-A97E-9B9FBA69876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133" autoAdjust="0"/>
  </p:normalViewPr>
  <p:slideViewPr>
    <p:cSldViewPr snapToGrid="0">
      <p:cViewPr varScale="1">
        <p:scale>
          <a:sx n="47" d="100"/>
          <a:sy n="47" d="100"/>
        </p:scale>
        <p:origin x="145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5.fntdata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8" Type="http://schemas.openxmlformats.org/officeDocument/2006/relationships/slide" Target="slides/slide6.xml"/><Relationship Id="rId51" Type="http://schemas.openxmlformats.org/officeDocument/2006/relationships/font" Target="fonts/font3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.fntdata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4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>
              <a:solidFill>
                <a:schemeClr val="tx1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BF311-87CE-354C-B636-4AAC2ADF684D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02171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4a4a0eea4a7ebfe8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h4a4a0eea4a7ebfe8_2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9" name="Google Shape;139;h4a4a0eea4a7ebfe8_2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105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4f3d7bb03575350d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h4f3d7bb03575350d_17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en-US" sz="1100" dirty="0">
                <a:solidFill>
                  <a:srgbClr val="3B7FF2"/>
                </a:solidFill>
              </a:rPr>
              <a:t>목적 변경했는데 문제 정의가 지금은 </a:t>
            </a:r>
            <a:r>
              <a:rPr lang="ko-KR" altLang="en-US" sz="1100" dirty="0" err="1">
                <a:solidFill>
                  <a:srgbClr val="3B7FF2"/>
                </a:solidFill>
              </a:rPr>
              <a:t>정적도구랑</a:t>
            </a:r>
            <a:r>
              <a:rPr lang="ko-KR" altLang="en-US" sz="1100" dirty="0">
                <a:solidFill>
                  <a:srgbClr val="3B7FF2"/>
                </a:solidFill>
              </a:rPr>
              <a:t> 동적 도구 비교인데 자동화 역량 향상을 위해 </a:t>
            </a:r>
            <a:r>
              <a:rPr lang="en-US" altLang="ko-KR" sz="1100" dirty="0" err="1">
                <a:solidFill>
                  <a:srgbClr val="3B7FF2"/>
                </a:solidFill>
              </a:rPr>
              <a:t>ai</a:t>
            </a:r>
            <a:r>
              <a:rPr lang="ko-KR" altLang="en-US" sz="1100" dirty="0">
                <a:solidFill>
                  <a:srgbClr val="3B7FF2"/>
                </a:solidFill>
              </a:rPr>
              <a:t> </a:t>
            </a:r>
            <a:r>
              <a:rPr lang="en-US" altLang="ko-KR" sz="1100" dirty="0">
                <a:solidFill>
                  <a:srgbClr val="3B7FF2"/>
                </a:solidFill>
              </a:rPr>
              <a:t>agent</a:t>
            </a:r>
            <a:r>
              <a:rPr lang="ko-KR" altLang="en-US" sz="1100" dirty="0">
                <a:solidFill>
                  <a:srgbClr val="3B7FF2"/>
                </a:solidFill>
              </a:rPr>
              <a:t>나 </a:t>
            </a:r>
            <a:r>
              <a:rPr lang="en-US" altLang="ko-KR" sz="1100" dirty="0" err="1">
                <a:solidFill>
                  <a:srgbClr val="3B7FF2"/>
                </a:solidFill>
              </a:rPr>
              <a:t>ai</a:t>
            </a:r>
            <a:r>
              <a:rPr lang="ko-KR" altLang="en-US" sz="1100" dirty="0">
                <a:solidFill>
                  <a:srgbClr val="3B7FF2"/>
                </a:solidFill>
              </a:rPr>
              <a:t> 스캐너 위주로 하면 좋을 </a:t>
            </a:r>
            <a:r>
              <a:rPr lang="ko-KR" altLang="en-US" sz="1100" dirty="0" err="1">
                <a:solidFill>
                  <a:srgbClr val="3B7FF2"/>
                </a:solidFill>
              </a:rPr>
              <a:t>거같아요</a:t>
            </a:r>
            <a:r>
              <a:rPr lang="ko-KR" altLang="en-US" sz="1100" dirty="0">
                <a:solidFill>
                  <a:srgbClr val="3B7FF2"/>
                </a:solidFill>
              </a:rPr>
              <a:t> </a:t>
            </a:r>
            <a:endParaRPr lang="en-US" altLang="ko-KR" sz="1100" dirty="0">
              <a:solidFill>
                <a:srgbClr val="3B7FF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altLang="ko-KR" sz="1100" dirty="0">
              <a:solidFill>
                <a:srgbClr val="3B7FF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chemeClr val="dk2"/>
                </a:solidFill>
              </a:rPr>
              <a:t>어떤 불편함을 해소시키려는 프로젝트보단 학습용 </a:t>
            </a:r>
            <a:r>
              <a:rPr lang="ko-KR" altLang="en-US" sz="1100" dirty="0" err="1">
                <a:solidFill>
                  <a:schemeClr val="dk2"/>
                </a:solidFill>
              </a:rPr>
              <a:t>프로젝트니까</a:t>
            </a:r>
            <a:r>
              <a:rPr lang="ko-KR" altLang="en-US" sz="1100" dirty="0">
                <a:solidFill>
                  <a:schemeClr val="dk2"/>
                </a:solidFill>
              </a:rPr>
              <a:t> ‘’목표 </a:t>
            </a:r>
            <a:r>
              <a:rPr lang="en-US" altLang="ko-KR" sz="1100" dirty="0">
                <a:solidFill>
                  <a:schemeClr val="dk2"/>
                </a:solidFill>
              </a:rPr>
              <a:t>/ </a:t>
            </a:r>
            <a:r>
              <a:rPr lang="ko-KR" altLang="en-US" sz="1100" dirty="0">
                <a:solidFill>
                  <a:schemeClr val="dk2"/>
                </a:solidFill>
              </a:rPr>
              <a:t>기대효과 </a:t>
            </a:r>
            <a:r>
              <a:rPr lang="en-US" altLang="ko-KR" sz="1100" dirty="0">
                <a:solidFill>
                  <a:schemeClr val="dk2"/>
                </a:solidFill>
              </a:rPr>
              <a:t>/ </a:t>
            </a:r>
            <a:r>
              <a:rPr lang="ko-KR" altLang="en-US" sz="1100" dirty="0">
                <a:solidFill>
                  <a:schemeClr val="dk2"/>
                </a:solidFill>
              </a:rPr>
              <a:t>실제 </a:t>
            </a:r>
            <a:r>
              <a:rPr lang="ko-KR" altLang="en-US" sz="1100" dirty="0" err="1">
                <a:solidFill>
                  <a:schemeClr val="dk2"/>
                </a:solidFill>
              </a:rPr>
              <a:t>결과’와</a:t>
            </a:r>
            <a:r>
              <a:rPr lang="ko-KR" altLang="en-US" sz="1100" dirty="0">
                <a:solidFill>
                  <a:schemeClr val="dk2"/>
                </a:solidFill>
              </a:rPr>
              <a:t> 의의를 작성하는 건 어떤가요</a:t>
            </a:r>
            <a:r>
              <a:rPr lang="en-US" altLang="ko-KR" sz="1100" dirty="0">
                <a:solidFill>
                  <a:schemeClr val="dk2"/>
                </a:solidFill>
              </a:rPr>
              <a:t>?</a:t>
            </a:r>
            <a:endParaRPr lang="ko-KR" altLang="en-US"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chemeClr val="dk2"/>
                </a:solidFill>
              </a:rPr>
              <a:t>의의나 목표에 자동화 역량 향상과 </a:t>
            </a:r>
            <a:r>
              <a:rPr lang="en-US" altLang="ko-KR" sz="1100" dirty="0" err="1">
                <a:solidFill>
                  <a:schemeClr val="dk2"/>
                </a:solidFill>
              </a:rPr>
              <a:t>ai</a:t>
            </a:r>
            <a:r>
              <a:rPr lang="ko-KR" altLang="en-US" sz="1100" dirty="0">
                <a:solidFill>
                  <a:schemeClr val="dk2"/>
                </a:solidFill>
              </a:rPr>
              <a:t> 스캐너 내용 넣으면 될 것 같아서요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altLang="ko-K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SSLC </a:t>
            </a:r>
            <a:r>
              <a:rPr lang="ko-KR" alt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교육 플랫폼을 모방한 취약한 미러 사이트를 구축하고</a:t>
            </a:r>
            <a:r>
              <a:rPr lang="en-US" altLang="ko-K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AI</a:t>
            </a:r>
            <a:r>
              <a:rPr lang="ko-KR" alt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로 주요 웹 취약점을 자동 진단</a:t>
            </a:r>
            <a:r>
              <a:rPr lang="en-US" altLang="ko-K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r>
              <a:rPr lang="ko-KR" alt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시각화해 취약점 분석 자동화 역량 향상을 목적으로 한다</a:t>
            </a:r>
            <a:r>
              <a:rPr lang="en-US" altLang="ko-K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600" dirty="0">
              <a:solidFill>
                <a:schemeClr val="dk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altLang="ko-KR" sz="1100" dirty="0">
              <a:solidFill>
                <a:srgbClr val="3B7FF2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altLang="ko-KR" sz="11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SSLC </a:t>
            </a:r>
            <a:r>
              <a:rPr lang="ko-KR" altLang="en-US" sz="11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교육 플랫폼을 모방한 취약한 미러 사이트를 구축하</a:t>
            </a:r>
            <a:r>
              <a:rPr lang="ko-KR" altLang="en-US" sz="1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고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altLang="ko-KR" sz="11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ko-KR" altLang="en-US" sz="1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 활용하여</a:t>
            </a:r>
            <a:r>
              <a:rPr lang="ko-KR" altLang="en-US" sz="11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주요 웹 취약점</a:t>
            </a:r>
            <a:r>
              <a:rPr lang="ko-KR" altLang="en-US" sz="1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을</a:t>
            </a:r>
            <a:r>
              <a:rPr lang="ko-KR" altLang="en-US" sz="11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자동 진단</a:t>
            </a:r>
            <a:r>
              <a:rPr lang="ko-KR" altLang="en-US" sz="1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하고 </a:t>
            </a:r>
            <a:r>
              <a:rPr lang="ko-KR" altLang="en-US" sz="11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시각화</a:t>
            </a:r>
            <a:r>
              <a:rPr lang="ko-KR" altLang="en-US" sz="1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하는 자동화 도구를 제작한다</a:t>
            </a:r>
            <a:endParaRPr lang="ko-KR" altLang="en-US" sz="11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altLang="ko-KR" sz="1100" dirty="0">
              <a:solidFill>
                <a:srgbClr val="3B7FF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altLang="ko-KR" sz="1100" dirty="0">
              <a:solidFill>
                <a:srgbClr val="3B7FF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ko-KR" altLang="en-US" sz="1100" dirty="0">
              <a:solidFill>
                <a:srgbClr val="3B7FF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h4f3d7bb03575350d_17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4f3d7bb03575350d_17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h4f3d7bb03575350d_17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err="1">
                <a:solidFill>
                  <a:schemeClr val="dk2"/>
                </a:solidFill>
              </a:rPr>
              <a:t>json</a:t>
            </a:r>
            <a:r>
              <a:rPr lang="ko-KR" altLang="en-US" sz="1100" dirty="0">
                <a:solidFill>
                  <a:schemeClr val="dk2"/>
                </a:solidFill>
              </a:rPr>
              <a:t>부분으로 변경</a:t>
            </a:r>
            <a:r>
              <a:rPr lang="en-US" altLang="ko-KR" sz="1100" dirty="0">
                <a:solidFill>
                  <a:schemeClr val="dk2"/>
                </a:solidFill>
              </a:rPr>
              <a:t>?</a:t>
            </a:r>
            <a:endParaRPr lang="ko-KR" altLang="en-US"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chemeClr val="dk2"/>
                </a:solidFill>
              </a:rPr>
              <a:t>공통 </a:t>
            </a:r>
            <a:r>
              <a:rPr lang="en-US" altLang="ko-KR" sz="1100" dirty="0" err="1">
                <a:solidFill>
                  <a:schemeClr val="dk2"/>
                </a:solidFill>
              </a:rPr>
              <a:t>Json</a:t>
            </a:r>
            <a:r>
              <a:rPr lang="ko-KR" altLang="en-US" sz="1100" dirty="0">
                <a:solidFill>
                  <a:schemeClr val="dk2"/>
                </a:solidFill>
              </a:rPr>
              <a:t>입출력을 통해 단계별 추적 가능 </a:t>
            </a:r>
          </a:p>
        </p:txBody>
      </p:sp>
      <p:sp>
        <p:nvSpPr>
          <p:cNvPr id="171" name="Google Shape;171;h4f3d7bb03575350d_17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2c772508b35be05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h2c772508b35be05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h2c772508b35be05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424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4f3d7bb03575350d_17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h4f3d7bb03575350d_17_1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2"/>
                </a:solidFill>
              </a:rPr>
              <a:t>커뮤니케이션 </a:t>
            </a:r>
            <a:r>
              <a:rPr lang="en-US" altLang="ko-KR" dirty="0">
                <a:solidFill>
                  <a:schemeClr val="dk2"/>
                </a:solidFill>
              </a:rPr>
              <a:t>- </a:t>
            </a:r>
            <a:r>
              <a:rPr lang="en-US" altLang="ko-KR" dirty="0" err="1">
                <a:solidFill>
                  <a:schemeClr val="dk2"/>
                </a:solidFill>
              </a:rPr>
              <a:t>Github</a:t>
            </a:r>
            <a:r>
              <a:rPr lang="ko-KR" altLang="en-US" dirty="0">
                <a:solidFill>
                  <a:schemeClr val="dk2"/>
                </a:solidFill>
              </a:rPr>
              <a:t> </a:t>
            </a:r>
            <a:r>
              <a:rPr lang="en-US" altLang="ko-KR" dirty="0">
                <a:solidFill>
                  <a:schemeClr val="dk2"/>
                </a:solidFill>
              </a:rPr>
              <a:t>/ Notion / Google Drive </a:t>
            </a:r>
            <a:r>
              <a:rPr lang="ko-KR" altLang="en-US" dirty="0">
                <a:solidFill>
                  <a:schemeClr val="dk2"/>
                </a:solidFill>
              </a:rPr>
              <a:t>추가해도 좋을 것 같습니다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2"/>
                </a:solidFill>
              </a:rPr>
              <a:t>그리고 별거 아니긴 한데 시간 괜찮으시면 혹시 아이콘으로 넣어주실 수 있으신가요</a:t>
            </a:r>
            <a:r>
              <a:rPr lang="en-US" altLang="ko-KR" dirty="0">
                <a:solidFill>
                  <a:schemeClr val="dk2"/>
                </a:solidFill>
              </a:rPr>
              <a:t>? </a:t>
            </a:r>
            <a:endParaRPr lang="ko-KR" altLang="en-US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7" name="Google Shape;207;h4f3d7bb03575350d_17_1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2" name="Google Shape;31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49649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8" name="Google Shape;34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7484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9</a:t>
            </a:fld>
            <a:endParaRPr kumimoji="1" lang="en-US" altLang="en-US"/>
          </a:p>
        </p:txBody>
      </p:sp>
    </p:spTree>
    <p:extLst>
      <p:ext uri="{BB962C8B-B14F-4D97-AF65-F5344CB8AC3E}">
        <p14:creationId xmlns:p14="http://schemas.microsoft.com/office/powerpoint/2010/main" val="2896931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en-US" sz="1100" dirty="0">
                <a:solidFill>
                  <a:schemeClr val="dk2"/>
                </a:solidFill>
              </a:rPr>
              <a:t>배경 내용에 </a:t>
            </a:r>
            <a:r>
              <a:rPr lang="ko-KR" altLang="en-US" sz="1100" dirty="0" err="1">
                <a:solidFill>
                  <a:schemeClr val="dk2"/>
                </a:solidFill>
              </a:rPr>
              <a:t>클라우드</a:t>
            </a:r>
            <a:r>
              <a:rPr lang="ko-KR" altLang="en-US" sz="1100" dirty="0">
                <a:solidFill>
                  <a:schemeClr val="dk2"/>
                </a:solidFill>
              </a:rPr>
              <a:t> </a:t>
            </a:r>
            <a:r>
              <a:rPr lang="en-US" altLang="ko-KR" sz="1100" dirty="0">
                <a:solidFill>
                  <a:schemeClr val="dk2"/>
                </a:solidFill>
              </a:rPr>
              <a:t>EC2</a:t>
            </a:r>
            <a:r>
              <a:rPr lang="ko-KR" altLang="en-US" sz="1100" dirty="0">
                <a:solidFill>
                  <a:schemeClr val="dk2"/>
                </a:solidFill>
              </a:rPr>
              <a:t>를 이용한 점 </a:t>
            </a:r>
            <a:r>
              <a:rPr lang="ko-KR" altLang="en-US" sz="1100" dirty="0" err="1">
                <a:solidFill>
                  <a:schemeClr val="dk2"/>
                </a:solidFill>
              </a:rPr>
              <a:t>추가하는건</a:t>
            </a:r>
            <a:r>
              <a:rPr lang="ko-KR" altLang="en-US" sz="1100" dirty="0">
                <a:solidFill>
                  <a:schemeClr val="dk2"/>
                </a:solidFill>
              </a:rPr>
              <a:t> 어떠신가요</a:t>
            </a:r>
            <a:r>
              <a:rPr lang="en-US" altLang="ko-KR" sz="1100" dirty="0">
                <a:solidFill>
                  <a:schemeClr val="dk2"/>
                </a:solidFill>
              </a:rPr>
              <a:t>? </a:t>
            </a:r>
            <a:endParaRPr lang="ko-KR" altLang="en-US" sz="1100" dirty="0">
              <a:solidFill>
                <a:schemeClr val="dk2"/>
              </a:solidFill>
            </a:endParaRPr>
          </a:p>
          <a:p>
            <a:pPr marL="158750" lvl="0" indent="0">
              <a:buNone/>
              <a:defRPr/>
            </a:pP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10</a:t>
            </a:fld>
            <a:endParaRPr kumimoji="1" lang="en-US" altLang="en-US"/>
          </a:p>
        </p:txBody>
      </p:sp>
    </p:spTree>
    <p:extLst>
      <p:ext uri="{BB962C8B-B14F-4D97-AF65-F5344CB8AC3E}">
        <p14:creationId xmlns:p14="http://schemas.microsoft.com/office/powerpoint/2010/main" val="3612751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3D4BF311-87CE-354C-B636-4AAC2ADF684D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57601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12</a:t>
            </a:fld>
            <a:endParaRPr kumimoji="1" lang="en-US" altLang="en-US"/>
          </a:p>
        </p:txBody>
      </p:sp>
    </p:spTree>
    <p:extLst>
      <p:ext uri="{BB962C8B-B14F-4D97-AF65-F5344CB8AC3E}">
        <p14:creationId xmlns:p14="http://schemas.microsoft.com/office/powerpoint/2010/main" val="765202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13</a:t>
            </a:fld>
            <a:endParaRPr kumimoji="1" lang="en-US" altLang="en-US"/>
          </a:p>
        </p:txBody>
      </p:sp>
    </p:spTree>
    <p:extLst>
      <p:ext uri="{BB962C8B-B14F-4D97-AF65-F5344CB8AC3E}">
        <p14:creationId xmlns:p14="http://schemas.microsoft.com/office/powerpoint/2010/main" val="2341036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kumimoji="1"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14</a:t>
            </a:fld>
            <a:endParaRPr kumimoji="1" lang="en-US" altLang="en-US"/>
          </a:p>
        </p:txBody>
      </p:sp>
    </p:spTree>
    <p:extLst>
      <p:ext uri="{BB962C8B-B14F-4D97-AF65-F5344CB8AC3E}">
        <p14:creationId xmlns:p14="http://schemas.microsoft.com/office/powerpoint/2010/main" val="220524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8" name="Google Shape;56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9" name="Google Shape;569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75616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kumimoji="1"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16</a:t>
            </a:fld>
            <a:endParaRPr kumimoji="1" lang="en-US" altLang="en-US"/>
          </a:p>
        </p:txBody>
      </p:sp>
    </p:spTree>
    <p:extLst>
      <p:ext uri="{BB962C8B-B14F-4D97-AF65-F5344CB8AC3E}">
        <p14:creationId xmlns:p14="http://schemas.microsoft.com/office/powerpoint/2010/main" val="36809786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17</a:t>
            </a:fld>
            <a:endParaRPr kumimoji="1" lang="en-US" altLang="en-US"/>
          </a:p>
        </p:txBody>
      </p:sp>
    </p:spTree>
    <p:extLst>
      <p:ext uri="{BB962C8B-B14F-4D97-AF65-F5344CB8AC3E}">
        <p14:creationId xmlns:p14="http://schemas.microsoft.com/office/powerpoint/2010/main" val="36286723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18</a:t>
            </a:fld>
            <a:endParaRPr kumimoji="1" lang="en-US" altLang="en-US"/>
          </a:p>
        </p:txBody>
      </p:sp>
    </p:spTree>
    <p:extLst>
      <p:ext uri="{BB962C8B-B14F-4D97-AF65-F5344CB8AC3E}">
        <p14:creationId xmlns:p14="http://schemas.microsoft.com/office/powerpoint/2010/main" val="39871342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0" name="Google Shape;69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1" name="Google Shape;691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23182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chemeClr val="dk2"/>
                </a:solidFill>
              </a:rPr>
              <a:t>여기가 참 애매하게 겹치네요</a:t>
            </a:r>
            <a:r>
              <a:rPr lang="en-US" altLang="ko-KR" sz="1100" dirty="0">
                <a:solidFill>
                  <a:schemeClr val="dk2"/>
                </a:solidFill>
              </a:rPr>
              <a:t>…</a:t>
            </a:r>
            <a:endParaRPr lang="ko-KR" altLang="en-US"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chemeClr val="dk2"/>
                </a:solidFill>
              </a:rPr>
              <a:t>통합 스캐너의 인풋과 아웃풋 </a:t>
            </a:r>
            <a:r>
              <a:rPr lang="en-US" altLang="ko-KR" sz="1100" dirty="0">
                <a:solidFill>
                  <a:schemeClr val="dk2"/>
                </a:solidFill>
              </a:rPr>
              <a:t>/ </a:t>
            </a:r>
            <a:r>
              <a:rPr lang="ko-KR" altLang="en-US" sz="1100" dirty="0">
                <a:solidFill>
                  <a:schemeClr val="dk2"/>
                </a:solidFill>
              </a:rPr>
              <a:t>스캐너들 통합할 때 생겼던 트러블 슈팅을 위주로 설명해도 괜찮을 것 같긴 한데</a:t>
            </a:r>
            <a:r>
              <a:rPr lang="en-US" altLang="ko-KR" sz="1100" dirty="0">
                <a:solidFill>
                  <a:schemeClr val="dk2"/>
                </a:solidFill>
              </a:rPr>
              <a:t>,,</a:t>
            </a:r>
            <a:endParaRPr lang="ko-KR" altLang="en-US"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chemeClr val="dk2"/>
                </a:solidFill>
              </a:rPr>
              <a:t>뒤에 출력 방식 통일에 대한 내용이 있어서 이 페이지를 입력 통일과 그 때 생겼던 이슈로 채울 수도 있을 것 같아요</a:t>
            </a:r>
            <a:r>
              <a:rPr lang="en-US" altLang="ko-KR" sz="1100" dirty="0">
                <a:solidFill>
                  <a:schemeClr val="dk2"/>
                </a:solidFill>
              </a:rPr>
              <a:t>.</a:t>
            </a:r>
            <a:endParaRPr lang="ko-KR" altLang="en-US"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chemeClr val="dk2"/>
                </a:solidFill>
              </a:rPr>
              <a:t>순서를 입력 통일 </a:t>
            </a:r>
            <a:r>
              <a:rPr lang="en-US" altLang="ko-KR" sz="1100" dirty="0">
                <a:solidFill>
                  <a:schemeClr val="dk2"/>
                </a:solidFill>
              </a:rPr>
              <a:t>-&gt; </a:t>
            </a:r>
            <a:r>
              <a:rPr lang="ko-KR" altLang="en-US" sz="1100" dirty="0">
                <a:solidFill>
                  <a:schemeClr val="dk2"/>
                </a:solidFill>
              </a:rPr>
              <a:t>출력 통일 </a:t>
            </a:r>
            <a:r>
              <a:rPr lang="en-US" altLang="ko-KR" sz="1100" dirty="0">
                <a:solidFill>
                  <a:schemeClr val="dk2"/>
                </a:solidFill>
              </a:rPr>
              <a:t>-&gt; </a:t>
            </a:r>
            <a:r>
              <a:rPr lang="ko-KR" altLang="en-US" sz="1100" dirty="0" err="1">
                <a:solidFill>
                  <a:schemeClr val="dk2"/>
                </a:solidFill>
              </a:rPr>
              <a:t>통합테스트</a:t>
            </a:r>
            <a:r>
              <a:rPr lang="ko-KR" altLang="en-US" sz="1100" dirty="0">
                <a:solidFill>
                  <a:schemeClr val="dk2"/>
                </a:solidFill>
              </a:rPr>
              <a:t> 결과 로 해서요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chemeClr val="dk2"/>
                </a:solidFill>
              </a:rPr>
              <a:t>우선 </a:t>
            </a:r>
            <a:r>
              <a:rPr lang="ko-KR" altLang="en-US" sz="1100" dirty="0" err="1">
                <a:solidFill>
                  <a:schemeClr val="dk2"/>
                </a:solidFill>
              </a:rPr>
              <a:t>제꺼</a:t>
            </a:r>
            <a:r>
              <a:rPr lang="ko-KR" altLang="en-US" sz="1100" dirty="0">
                <a:solidFill>
                  <a:schemeClr val="dk2"/>
                </a:solidFill>
              </a:rPr>
              <a:t> 보시고 어떻게 할 지 정하는 걸로 해용</a:t>
            </a:r>
            <a:r>
              <a:rPr lang="en-US" altLang="ko-KR" sz="1100" dirty="0">
                <a:solidFill>
                  <a:schemeClr val="dk2"/>
                </a:solidFill>
              </a:rPr>
              <a:t>..</a:t>
            </a:r>
            <a:endParaRPr lang="ko-KR" altLang="en-US" sz="1100" dirty="0">
              <a:solidFill>
                <a:schemeClr val="dk2"/>
              </a:solidFill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43402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chemeClr val="dk2"/>
                </a:solidFill>
              </a:rPr>
              <a:t>병합하면서 </a:t>
            </a:r>
            <a:r>
              <a:rPr lang="ko-KR" altLang="en-US" sz="1100" dirty="0" err="1">
                <a:solidFill>
                  <a:schemeClr val="dk2"/>
                </a:solidFill>
              </a:rPr>
              <a:t>깨진거</a:t>
            </a:r>
            <a:r>
              <a:rPr lang="ko-KR" altLang="en-US" sz="1100" dirty="0">
                <a:solidFill>
                  <a:schemeClr val="dk2"/>
                </a:solidFill>
              </a:rPr>
              <a:t> 처리를 어떻게 해야할까요</a:t>
            </a:r>
            <a:r>
              <a:rPr lang="en-US" altLang="ko-KR" sz="1100" dirty="0">
                <a:solidFill>
                  <a:schemeClr val="dk2"/>
                </a:solidFill>
              </a:rPr>
              <a:t>….</a:t>
            </a:r>
            <a:r>
              <a:rPr lang="ko-KR" altLang="en-US" sz="1100" dirty="0" err="1">
                <a:solidFill>
                  <a:schemeClr val="dk2"/>
                </a:solidFill>
              </a:rPr>
              <a:t>ㅜ</a:t>
            </a:r>
            <a:endParaRPr lang="ko-KR" altLang="en-US"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>
                <a:solidFill>
                  <a:schemeClr val="dk2"/>
                </a:solidFill>
              </a:rPr>
              <a:t>pdf</a:t>
            </a:r>
            <a:r>
              <a:rPr lang="ko-KR" altLang="en-US" sz="1100" dirty="0">
                <a:solidFill>
                  <a:schemeClr val="dk2"/>
                </a:solidFill>
              </a:rPr>
              <a:t>로 저장해서 다시 올리거나 그냥 수정하거나 해야할 것 같은데</a:t>
            </a:r>
            <a:r>
              <a:rPr lang="en-US" altLang="ko-KR" sz="1100" dirty="0">
                <a:solidFill>
                  <a:schemeClr val="dk2"/>
                </a:solidFill>
              </a:rPr>
              <a:t>,,</a:t>
            </a:r>
            <a:endParaRPr lang="ko-KR" altLang="en-US" sz="1100" dirty="0">
              <a:solidFill>
                <a:schemeClr val="dk2"/>
              </a:solidFill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1269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>
                <a:solidFill>
                  <a:schemeClr val="dk2"/>
                </a:solidFill>
              </a:rPr>
              <a:t>[</a:t>
            </a:r>
            <a:r>
              <a:rPr lang="en-US" altLang="ko-KR" sz="1100" dirty="0" err="1">
                <a:solidFill>
                  <a:schemeClr val="dk2"/>
                </a:solidFill>
              </a:rPr>
              <a:t>ppt</a:t>
            </a:r>
            <a:r>
              <a:rPr lang="ko-KR" altLang="en-US" sz="1100" dirty="0">
                <a:solidFill>
                  <a:schemeClr val="dk2"/>
                </a:solidFill>
              </a:rPr>
              <a:t> 순서 의견</a:t>
            </a:r>
            <a:r>
              <a:rPr lang="en-US" altLang="ko-KR" sz="1100" dirty="0">
                <a:solidFill>
                  <a:schemeClr val="dk2"/>
                </a:solidFill>
              </a:rPr>
              <a:t>]</a:t>
            </a:r>
            <a:endParaRPr lang="ko-KR" altLang="en-US"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chemeClr val="dk2"/>
                </a:solidFill>
              </a:rPr>
              <a:t>진단 </a:t>
            </a:r>
            <a:r>
              <a:rPr lang="ko-KR" altLang="en-US" sz="1100" dirty="0" err="1">
                <a:solidFill>
                  <a:schemeClr val="dk2"/>
                </a:solidFill>
              </a:rPr>
              <a:t>로직의</a:t>
            </a:r>
            <a:r>
              <a:rPr lang="ko-KR" altLang="en-US" sz="1100" dirty="0">
                <a:solidFill>
                  <a:schemeClr val="dk2"/>
                </a:solidFill>
              </a:rPr>
              <a:t> 논리성 </a:t>
            </a:r>
            <a:r>
              <a:rPr lang="en-US" altLang="ko-KR" sz="1100" dirty="0">
                <a:solidFill>
                  <a:schemeClr val="dk2"/>
                </a:solidFill>
              </a:rPr>
              <a:t>&lt;&lt; </a:t>
            </a:r>
            <a:r>
              <a:rPr lang="ko-KR" altLang="en-US" sz="1100" dirty="0">
                <a:solidFill>
                  <a:schemeClr val="dk2"/>
                </a:solidFill>
              </a:rPr>
              <a:t>어떤 근거로 취약점이라고 판단했는가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chemeClr val="dk2"/>
                </a:solidFill>
              </a:rPr>
              <a:t>라는 걸 의미하니까 ‘취약점 판정 기준’ 직전에 간단히 설명하면서 들어가는 게 어떤가 해요</a:t>
            </a:r>
            <a:r>
              <a:rPr lang="en-US" altLang="ko-KR" sz="1100" dirty="0">
                <a:solidFill>
                  <a:schemeClr val="dk2"/>
                </a:solidFill>
              </a:rPr>
              <a:t>! </a:t>
            </a:r>
            <a:endParaRPr lang="ko-KR" altLang="en-US"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chemeClr val="dk2"/>
                </a:solidFill>
              </a:rPr>
              <a:t>아니면 아래의 내용을 처음에 깔고 </a:t>
            </a:r>
            <a:r>
              <a:rPr lang="ko-KR" altLang="en-US" sz="1100" dirty="0" err="1">
                <a:solidFill>
                  <a:schemeClr val="dk2"/>
                </a:solidFill>
              </a:rPr>
              <a:t>가는것도</a:t>
            </a:r>
            <a:r>
              <a:rPr lang="en-US" altLang="ko-KR" sz="1100" dirty="0">
                <a:solidFill>
                  <a:schemeClr val="dk2"/>
                </a:solidFill>
              </a:rPr>
              <a:t>….</a:t>
            </a:r>
            <a:endParaRPr lang="ko-KR" altLang="en-US" sz="1100" dirty="0">
              <a:solidFill>
                <a:schemeClr val="dk2"/>
              </a:solidFill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20308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chemeClr val="dk2"/>
                </a:solidFill>
              </a:rPr>
              <a:t>혹시 취약점 별로 </a:t>
            </a:r>
            <a:r>
              <a:rPr lang="ko-KR" altLang="en-US" sz="1100" dirty="0" err="1">
                <a:solidFill>
                  <a:schemeClr val="dk2"/>
                </a:solidFill>
              </a:rPr>
              <a:t>연하게라도</a:t>
            </a:r>
            <a:r>
              <a:rPr lang="ko-KR" altLang="en-US" sz="1100" dirty="0">
                <a:solidFill>
                  <a:schemeClr val="dk2"/>
                </a:solidFill>
              </a:rPr>
              <a:t> 테두리 </a:t>
            </a:r>
            <a:r>
              <a:rPr lang="ko-KR" altLang="en-US" sz="1100" dirty="0" err="1">
                <a:solidFill>
                  <a:schemeClr val="dk2"/>
                </a:solidFill>
              </a:rPr>
              <a:t>추가해주실</a:t>
            </a:r>
            <a:r>
              <a:rPr lang="ko-KR" altLang="en-US" sz="1100" dirty="0">
                <a:solidFill>
                  <a:schemeClr val="dk2"/>
                </a:solidFill>
              </a:rPr>
              <a:t> 수 있나요</a:t>
            </a:r>
            <a:r>
              <a:rPr lang="en-US" altLang="ko-KR" sz="1100" dirty="0">
                <a:solidFill>
                  <a:schemeClr val="dk2"/>
                </a:solidFill>
              </a:rPr>
              <a:t>? </a:t>
            </a:r>
            <a:r>
              <a:rPr lang="ko-KR" altLang="en-US" sz="1100" dirty="0">
                <a:solidFill>
                  <a:schemeClr val="dk2"/>
                </a:solidFill>
              </a:rPr>
              <a:t>내용은 너무 좋은데 </a:t>
            </a:r>
            <a:r>
              <a:rPr lang="ko-KR" altLang="en-US" sz="1100" dirty="0" err="1">
                <a:solidFill>
                  <a:schemeClr val="dk2"/>
                </a:solidFill>
              </a:rPr>
              <a:t>가독성이</a:t>
            </a:r>
            <a:r>
              <a:rPr lang="ko-KR" altLang="en-US" sz="1100" dirty="0">
                <a:solidFill>
                  <a:schemeClr val="dk2"/>
                </a:solidFill>
              </a:rPr>
              <a:t> 살짝 </a:t>
            </a:r>
            <a:r>
              <a:rPr lang="ko-KR" altLang="en-US" sz="1100" dirty="0" err="1">
                <a:solidFill>
                  <a:schemeClr val="dk2"/>
                </a:solidFill>
              </a:rPr>
              <a:t>아쉬워서요</a:t>
            </a:r>
            <a:r>
              <a:rPr lang="en-US" altLang="ko-KR" sz="1100" dirty="0">
                <a:solidFill>
                  <a:schemeClr val="dk2"/>
                </a:solidFill>
              </a:rPr>
              <a:t>!! </a:t>
            </a:r>
            <a:endParaRPr lang="ko-KR" altLang="en-US"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chemeClr val="dk2"/>
                </a:solidFill>
              </a:rPr>
              <a:t>그리고 </a:t>
            </a:r>
            <a:r>
              <a:rPr lang="en-US" altLang="ko-KR" sz="1100" dirty="0">
                <a:solidFill>
                  <a:schemeClr val="dk2"/>
                </a:solidFill>
              </a:rPr>
              <a:t>VULNERABLE/PASS/REVIEW?ERROR </a:t>
            </a:r>
            <a:r>
              <a:rPr lang="ko-KR" altLang="en-US" sz="1100" dirty="0" err="1">
                <a:solidFill>
                  <a:schemeClr val="dk2"/>
                </a:solidFill>
              </a:rPr>
              <a:t>볼드체</a:t>
            </a:r>
            <a:r>
              <a:rPr lang="en-US" altLang="ko-KR" sz="1100" dirty="0">
                <a:solidFill>
                  <a:schemeClr val="dk2"/>
                </a:solidFill>
              </a:rPr>
              <a:t>(</a:t>
            </a:r>
            <a:r>
              <a:rPr lang="en-US" altLang="ko-KR" sz="1100" dirty="0" err="1">
                <a:solidFill>
                  <a:schemeClr val="dk2"/>
                </a:solidFill>
              </a:rPr>
              <a:t>Ctrl+B</a:t>
            </a:r>
            <a:r>
              <a:rPr lang="en-US" altLang="ko-KR" sz="1100" dirty="0">
                <a:solidFill>
                  <a:schemeClr val="dk2"/>
                </a:solidFill>
              </a:rPr>
              <a:t>) </a:t>
            </a:r>
            <a:r>
              <a:rPr lang="ko-KR" altLang="en-US" sz="1100" dirty="0">
                <a:solidFill>
                  <a:schemeClr val="dk2"/>
                </a:solidFill>
              </a:rPr>
              <a:t>하면 더 좋을 것 같습니다</a:t>
            </a:r>
            <a:r>
              <a:rPr lang="en-US" altLang="ko-KR" sz="1100" dirty="0">
                <a:solidFill>
                  <a:schemeClr val="dk2"/>
                </a:solidFill>
              </a:rPr>
              <a:t>!</a:t>
            </a:r>
            <a:endParaRPr lang="ko-KR" altLang="en-US" sz="1100" dirty="0">
              <a:solidFill>
                <a:schemeClr val="dk2"/>
              </a:solidFill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09001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09939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9" name="Google Shape;102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30" name="Google Shape;1030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48771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BF311-87CE-354C-B636-4AAC2ADF684D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967178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BF311-87CE-354C-B636-4AAC2ADF684D}" type="slidenum">
              <a:rPr kumimoji="1" lang="ko-KR" altLang="en-US" smtClean="0"/>
              <a:t>29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38581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BF311-87CE-354C-B636-4AAC2ADF684D}" type="slidenum">
              <a:rPr kumimoji="1" lang="ko-KR" altLang="en-US" smtClean="0"/>
              <a:t>30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04911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BF311-87CE-354C-B636-4AAC2ADF684D}" type="slidenum">
              <a:rPr kumimoji="1" lang="ko-KR" altLang="en-US" smtClean="0"/>
              <a:t>31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935283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5" name="Google Shape;119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96" name="Google Shape;1196;p3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33435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72278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3" name="Google Shape;1383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4" name="Google Shape;1384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73862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6" name="Google Shape;1406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2"/>
                </a:solidFill>
              </a:rPr>
              <a:t>생각을 해봤는데 앞에서 한 내용을 빠르게 정리하면서 어떤 기능을 성공적으로 구현했는지 요약하는 부분도 필요한 것 같아요</a:t>
            </a:r>
            <a:r>
              <a:rPr lang="en-US" altLang="ko-KR" dirty="0">
                <a:solidFill>
                  <a:schemeClr val="dk2"/>
                </a:solidFill>
              </a:rPr>
              <a:t>.</a:t>
            </a:r>
            <a:endParaRPr lang="ko-KR" altLang="en-US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solidFill>
                  <a:schemeClr val="dk2"/>
                </a:solidFill>
              </a:rPr>
              <a:t>최종평가</a:t>
            </a:r>
            <a:r>
              <a:rPr lang="ko-KR" altLang="en-US" dirty="0">
                <a:solidFill>
                  <a:schemeClr val="dk2"/>
                </a:solidFill>
              </a:rPr>
              <a:t> 넣는 게 더 좋을 것 같아요</a:t>
            </a:r>
            <a:r>
              <a:rPr lang="en-US" altLang="ko-KR" dirty="0">
                <a:solidFill>
                  <a:schemeClr val="dk2"/>
                </a:solidFill>
              </a:rPr>
              <a:t>. </a:t>
            </a:r>
            <a:r>
              <a:rPr lang="ko-KR" altLang="en-US" dirty="0">
                <a:solidFill>
                  <a:schemeClr val="dk2"/>
                </a:solidFill>
              </a:rPr>
              <a:t>잘 만들어주셔서 감사합니</a:t>
            </a:r>
            <a:r>
              <a:rPr lang="ko-KR" altLang="en-US" dirty="0">
                <a:solidFill>
                  <a:srgbClr val="000000"/>
                </a:solidFill>
              </a:rPr>
              <a:t>다</a:t>
            </a:r>
            <a:r>
              <a:rPr lang="en-US" altLang="ko-KR" dirty="0">
                <a:solidFill>
                  <a:srgbClr val="000000"/>
                </a:solidFill>
              </a:rPr>
              <a:t>!</a:t>
            </a:r>
            <a:endParaRPr lang="ko-KR" altLang="en-US" dirty="0">
              <a:solidFill>
                <a:schemeClr val="dk2"/>
              </a:solidFill>
            </a:endParaRPr>
          </a:p>
        </p:txBody>
      </p:sp>
      <p:sp>
        <p:nvSpPr>
          <p:cNvPr id="1407" name="Google Shape;1407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65164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6" name="Google Shape;1436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7" name="Google Shape;1437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61421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5" name="Google Shape;1465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6" name="Google Shape;1466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4146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4" name="Google Shape;1494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5" name="Google Shape;1495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97303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8" name="Google Shape;1518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519" name="Google Shape;1519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54043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4" name="Google Shape;1544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5" name="Google Shape;1545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9125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">
  <p:cSld name="Whit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lide">
  <p:cSld name="1_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/>
        </p:nvSpPr>
        <p:spPr>
          <a:xfrm>
            <a:off x="0" y="-217687"/>
            <a:ext cx="558347" cy="18466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08000" tIns="0" rIns="10800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Slide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">
  <p:cSld name="Gra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FF4F5"/>
              </a:gs>
              <a:gs pos="62000">
                <a:srgbClr val="EFF4F5"/>
              </a:gs>
              <a:gs pos="100000">
                <a:srgbClr val="DCE1E4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 - Half Tone">
  <p:cSld name="Gray - Half Ton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1E4E7"/>
              </a:gs>
              <a:gs pos="100000">
                <a:srgbClr val="CBCFD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 Gradient">
  <p:cSld name="Gray Gradie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/>
          <p:nvPr/>
        </p:nvSpPr>
        <p:spPr>
          <a:xfrm>
            <a:off x="0" y="0"/>
            <a:ext cx="9141626" cy="5143500"/>
          </a:xfrm>
          <a:prstGeom prst="rect">
            <a:avLst/>
          </a:prstGeom>
          <a:gradFill>
            <a:gsLst>
              <a:gs pos="0">
                <a:srgbClr val="FFFFFF"/>
              </a:gs>
              <a:gs pos="53000">
                <a:srgbClr val="FFFFFF"/>
              </a:gs>
              <a:gs pos="100000">
                <a:srgbClr val="D8D8D8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ol Gray">
  <p:cSld name="Cool Gra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Navy">
  <p:cSld name="Dark Nav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4F5461"/>
              </a:gs>
              <a:gs pos="46000">
                <a:srgbClr val="636875"/>
              </a:gs>
              <a:gs pos="100000">
                <a:srgbClr val="454C59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0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" y="-154884"/>
            <a:ext cx="433388" cy="6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 b="0" i="0" u="none" strike="noStrike" cap="none">
                <a:solidFill>
                  <a:srgbClr val="E6E6E6"/>
                </a:solidFill>
                <a:latin typeface="Arial"/>
                <a:ea typeface="Arial"/>
                <a:cs typeface="Arial"/>
                <a:sym typeface="Arial"/>
              </a:rPr>
              <a:t>JAY DESIGN</a:t>
            </a:r>
            <a:endParaRPr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13.125.233.51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github.com/Rookies-34-3/sslc-lab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27281DBE-0197-4164-A175-F9E5129387E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rgbClr val="D9D9D9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931304D-5143-4E5A-9076-82539C1CAA1D}"/>
              </a:ext>
            </a:extLst>
          </p:cNvPr>
          <p:cNvCxnSpPr>
            <a:cxnSpLocks/>
          </p:cNvCxnSpPr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4F1EB7C-BD1B-44AF-9552-CC079B80FC6B}"/>
              </a:ext>
            </a:extLst>
          </p:cNvPr>
          <p:cNvSpPr txBox="1"/>
          <p:nvPr/>
        </p:nvSpPr>
        <p:spPr>
          <a:xfrm>
            <a:off x="575557" y="2365259"/>
            <a:ext cx="7473080" cy="6001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27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</a:t>
            </a:r>
          </a:p>
          <a:p>
            <a:pPr algn="l"/>
            <a:r>
              <a:rPr lang="ko-KR" altLang="en-US" sz="12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웹 취약점 진단 사이트</a:t>
            </a:r>
            <a:r>
              <a:rPr lang="en-US" altLang="ko-KR" sz="12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8C3E6D-7491-45EB-9777-21A2CEA181D2}"/>
              </a:ext>
            </a:extLst>
          </p:cNvPr>
          <p:cNvSpPr txBox="1"/>
          <p:nvPr/>
        </p:nvSpPr>
        <p:spPr>
          <a:xfrm>
            <a:off x="4139953" y="3838277"/>
            <a:ext cx="418496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r"/>
            <a:r>
              <a:rPr lang="en-US" altLang="ko-KR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 </a:t>
            </a:r>
            <a:r>
              <a:rPr lang="en-US" altLang="ko-KR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 </a:t>
            </a:r>
            <a:r>
              <a:rPr lang="ko-KR" altLang="en-US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500" b="1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en-US" altLang="ko-KR" sz="1500" b="1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r"/>
            <a:r>
              <a:rPr lang="ko-KR" altLang="en-US" sz="120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김승민</a:t>
            </a:r>
            <a:r>
              <a:rPr lang="en-US" altLang="ko-KR" sz="120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배소윤 </a:t>
            </a:r>
            <a:r>
              <a:rPr lang="ko-KR" altLang="en-US" sz="120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서효빈</a:t>
            </a:r>
            <a:r>
              <a:rPr lang="ko-KR" altLang="en-US" sz="120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송정현</a:t>
            </a:r>
            <a:r>
              <a:rPr lang="ko-KR" altLang="en-US" sz="120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유영택</a:t>
            </a:r>
            <a:r>
              <a:rPr lang="ko-KR" altLang="en-US" sz="120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정래언</a:t>
            </a:r>
            <a:r>
              <a:rPr lang="ko-KR" altLang="en-US" sz="120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최윤석</a:t>
            </a:r>
            <a:endParaRPr lang="en-US" altLang="ko-KR" sz="120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812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4a4a0eea4a7ebfe8_2_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F3F3F">
              <a:alpha val="196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h4a4a0eea4a7ebfe8_2_25"/>
          <p:cNvSpPr/>
          <p:nvPr/>
        </p:nvSpPr>
        <p:spPr>
          <a:xfrm>
            <a:off x="2777700" y="1821038"/>
            <a:ext cx="5885100" cy="618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62000" tIns="8100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SSLC 미러 사이트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</a:pPr>
            <a:r>
              <a:rPr lang="en-US" sz="1200" b="1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웹 개발 및 취약점 구성 내용</a:t>
            </a:r>
            <a:endParaRPr sz="15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3" name="Google Shape;143;h4a4a0eea4a7ebfe8_2_25"/>
          <p:cNvSpPr/>
          <p:nvPr/>
        </p:nvSpPr>
        <p:spPr>
          <a:xfrm>
            <a:off x="2777700" y="3343463"/>
            <a:ext cx="2809200" cy="618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62000" tIns="81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AI 결과 분석 &amp; 보고서 생성 </a:t>
            </a:r>
            <a:endParaRPr sz="15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AI </a:t>
            </a:r>
            <a:r>
              <a:rPr lang="en-US" sz="1200" b="1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활용과 관련된 기능 소개</a:t>
            </a:r>
            <a:endParaRPr sz="1200" b="1" i="0" u="none" strike="noStrike" cap="non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44" name="Google Shape;144;h4a4a0eea4a7ebfe8_2_25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45" name="Google Shape;145;h4a4a0eea4a7ebfe8_2_25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146" name="Google Shape;146;h4a4a0eea4a7ebfe8_2_25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7" name="Google Shape;147;h4a4a0eea4a7ebfe8_2_25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cxnSp>
        <p:nvCxnSpPr>
          <p:cNvPr id="148" name="Google Shape;148;h4a4a0eea4a7ebfe8_2_25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9" name="Google Shape;149;h4a4a0eea4a7ebfe8_2_25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50" name="Google Shape;150;h4a4a0eea4a7ebfe8_2_25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151" name="Google Shape;151;h4a4a0eea4a7ebfe8_2_25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2" name="Google Shape;152;h4a4a0eea4a7ebfe8_2_25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53" name="Google Shape;153;h4a4a0eea4a7ebfe8_2_25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154" name="Google Shape;154;h4a4a0eea4a7ebfe8_2_25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5" name="Google Shape;155;h4a4a0eea4a7ebfe8_2_25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56" name="Google Shape;156;h4a4a0eea4a7ebfe8_2_25"/>
          <p:cNvGrpSpPr/>
          <p:nvPr/>
        </p:nvGrpSpPr>
        <p:grpSpPr>
          <a:xfrm rot="2700000">
            <a:off x="8762137" y="2459807"/>
            <a:ext cx="223611" cy="223611"/>
            <a:chOff x="3719736" y="2060848"/>
            <a:chExt cx="1991400" cy="1991400"/>
          </a:xfrm>
        </p:grpSpPr>
        <p:cxnSp>
          <p:nvCxnSpPr>
            <p:cNvPr id="157" name="Google Shape;157;h4a4a0eea4a7ebfe8_2_25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8" name="Google Shape;158;h4a4a0eea4a7ebfe8_2_25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59" name="Google Shape;159;h4a4a0eea4a7ebfe8_2_25"/>
          <p:cNvSpPr txBox="1"/>
          <p:nvPr/>
        </p:nvSpPr>
        <p:spPr>
          <a:xfrm>
            <a:off x="899592" y="195921"/>
            <a:ext cx="2271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ROOKIESCAN / 취약점 싹쓰리</a:t>
            </a: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0" name="Google Shape;160;h4a4a0eea4a7ebfe8_2_25"/>
          <p:cNvSpPr txBox="1"/>
          <p:nvPr/>
        </p:nvSpPr>
        <p:spPr>
          <a:xfrm>
            <a:off x="511422" y="435899"/>
            <a:ext cx="812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Contents </a:t>
            </a:r>
            <a:r>
              <a:rPr lang="en-US" sz="15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목차</a:t>
            </a:r>
            <a:endParaRPr sz="15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61" name="Google Shape;161;h4a4a0eea4a7ebfe8_2_25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62" name="Google Shape;162;h4a4a0eea4a7ebfe8_2_25"/>
          <p:cNvSpPr/>
          <p:nvPr/>
        </p:nvSpPr>
        <p:spPr>
          <a:xfrm>
            <a:off x="469835" y="1065500"/>
            <a:ext cx="8193000" cy="618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CCCCCC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62000" tIns="81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프로젝트 개요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프로젝트 </a:t>
            </a:r>
            <a:r>
              <a:rPr lang="en-US" sz="1200" b="1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및 파이프라인 소개</a:t>
            </a:r>
            <a:endParaRPr sz="1200" b="1" i="0" u="none" strike="noStrike" cap="non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3" name="Google Shape;163;h4a4a0eea4a7ebfe8_2_25"/>
          <p:cNvSpPr/>
          <p:nvPr/>
        </p:nvSpPr>
        <p:spPr>
          <a:xfrm>
            <a:off x="2777700" y="2584138"/>
            <a:ext cx="2809200" cy="618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62000" tIns="81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Sink Finder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</a:pPr>
            <a:r>
              <a:rPr lang="en-US" sz="1200" b="1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취약한 엔드포인트 탐색 도구 개발</a:t>
            </a:r>
            <a:endParaRPr sz="1200" b="1" i="0" u="none" strike="noStrike" cap="non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4" name="Google Shape;164;h4a4a0eea4a7ebfe8_2_25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h4a4a0eea4a7ebfe8_2_25"/>
          <p:cNvSpPr/>
          <p:nvPr/>
        </p:nvSpPr>
        <p:spPr>
          <a:xfrm>
            <a:off x="5853600" y="3339675"/>
            <a:ext cx="2809200" cy="618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62000" tIns="81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대시보드 및 시연</a:t>
            </a:r>
            <a:endParaRPr sz="15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</a:pPr>
            <a:r>
              <a:rPr lang="en-US" sz="1200" b="1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UIUX 기술 적용 및 대시보드 출력</a:t>
            </a:r>
            <a:endParaRPr sz="1200" b="1" i="0" u="none" strike="noStrike" cap="non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6" name="Google Shape;166;h4a4a0eea4a7ebfe8_2_25"/>
          <p:cNvSpPr/>
          <p:nvPr/>
        </p:nvSpPr>
        <p:spPr>
          <a:xfrm>
            <a:off x="541575" y="4102775"/>
            <a:ext cx="8121300" cy="618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62000" tIns="81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최종 평가</a:t>
            </a:r>
            <a:endParaRPr sz="15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rPr>
              <a:t>프로젝트 성과, 추후 개선 방향</a:t>
            </a:r>
            <a:r>
              <a:rPr lang="en-US" sz="1500" b="0" i="0" u="none" strike="noStrike" cap="none">
                <a:solidFill>
                  <a:srgbClr val="A5A5A5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500" b="0" i="0" u="none" strike="noStrike" cap="none">
              <a:solidFill>
                <a:srgbClr val="A5A5A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7" name="Google Shape;167;h4a4a0eea4a7ebfe8_2_25"/>
          <p:cNvSpPr/>
          <p:nvPr/>
        </p:nvSpPr>
        <p:spPr>
          <a:xfrm>
            <a:off x="5853601" y="2576575"/>
            <a:ext cx="2809200" cy="618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62000" tIns="81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스캐너 실행 및 통합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</a:pPr>
            <a:r>
              <a:rPr lang="en-US" sz="1200" b="1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통합 스캐너 결과 및 진단 로직의 논리성</a:t>
            </a:r>
            <a:endParaRPr sz="1200" b="1" i="0" u="none" strike="noStrike" cap="non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8" name="Google Shape;168;h4a4a0eea4a7ebfe8_2_25"/>
          <p:cNvSpPr txBox="1"/>
          <p:nvPr/>
        </p:nvSpPr>
        <p:spPr>
          <a:xfrm>
            <a:off x="961312" y="1852300"/>
            <a:ext cx="14937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5400"/>
              <a:buFont typeface="Arial"/>
              <a:buNone/>
            </a:pPr>
            <a:r>
              <a:rPr lang="en-US" sz="2000" b="1">
                <a:solidFill>
                  <a:srgbClr val="888888"/>
                </a:solidFill>
              </a:rPr>
              <a:t>웹 환경 구축</a:t>
            </a:r>
            <a:endParaRPr sz="2000" b="1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h4a4a0eea4a7ebfe8_2_25"/>
          <p:cNvSpPr txBox="1"/>
          <p:nvPr/>
        </p:nvSpPr>
        <p:spPr>
          <a:xfrm>
            <a:off x="1032700" y="2650575"/>
            <a:ext cx="13509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5400"/>
              <a:buFont typeface="Arial"/>
              <a:buNone/>
            </a:pPr>
            <a:r>
              <a:rPr lang="en-US" sz="2000" b="1">
                <a:solidFill>
                  <a:srgbClr val="7F7F7F"/>
                </a:solidFill>
              </a:rPr>
              <a:t>스캐너 개발</a:t>
            </a:r>
            <a:endParaRPr sz="2000" b="1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h4a4a0eea4a7ebfe8_2_25"/>
          <p:cNvSpPr txBox="1"/>
          <p:nvPr/>
        </p:nvSpPr>
        <p:spPr>
          <a:xfrm>
            <a:off x="5529300" y="2664825"/>
            <a:ext cx="38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→</a:t>
            </a:r>
            <a:r>
              <a:rPr lang="en-US" sz="1100" b="1">
                <a:solidFill>
                  <a:schemeClr val="dk1"/>
                </a:solidFill>
              </a:rPr>
              <a:t> </a:t>
            </a:r>
            <a:endParaRPr b="1"/>
          </a:p>
        </p:txBody>
      </p:sp>
      <p:sp>
        <p:nvSpPr>
          <p:cNvPr id="171" name="Google Shape;171;h4a4a0eea4a7ebfe8_2_25"/>
          <p:cNvSpPr txBox="1"/>
          <p:nvPr/>
        </p:nvSpPr>
        <p:spPr>
          <a:xfrm>
            <a:off x="5562150" y="34490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→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72" name="Google Shape;172;h4a4a0eea4a7ebfe8_2_25"/>
          <p:cNvSpPr txBox="1"/>
          <p:nvPr/>
        </p:nvSpPr>
        <p:spPr>
          <a:xfrm rot="8696331">
            <a:off x="5506386" y="3092457"/>
            <a:ext cx="427713" cy="40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→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73" name="Google Shape;173;h4a4a0eea4a7ebfe8_2_25"/>
          <p:cNvSpPr txBox="1"/>
          <p:nvPr/>
        </p:nvSpPr>
        <p:spPr>
          <a:xfrm>
            <a:off x="2400575" y="1852300"/>
            <a:ext cx="38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→</a:t>
            </a:r>
            <a:r>
              <a:rPr lang="en-US" sz="1100" b="1">
                <a:solidFill>
                  <a:schemeClr val="dk1"/>
                </a:solidFill>
              </a:rPr>
              <a:t> </a:t>
            </a:r>
            <a:endParaRPr b="1"/>
          </a:p>
        </p:txBody>
      </p:sp>
      <p:sp>
        <p:nvSpPr>
          <p:cNvPr id="174" name="Google Shape;174;h4a4a0eea4a7ebfe8_2_25"/>
          <p:cNvSpPr txBox="1"/>
          <p:nvPr/>
        </p:nvSpPr>
        <p:spPr>
          <a:xfrm>
            <a:off x="2400575" y="2664825"/>
            <a:ext cx="38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→</a:t>
            </a:r>
            <a:r>
              <a:rPr lang="en-US" sz="1100" b="1">
                <a:solidFill>
                  <a:schemeClr val="dk1"/>
                </a:solidFill>
              </a:rPr>
              <a:t> </a:t>
            </a:r>
            <a:endParaRPr b="1"/>
          </a:p>
        </p:txBody>
      </p:sp>
      <p:sp>
        <p:nvSpPr>
          <p:cNvPr id="175" name="Google Shape;175;h4a4a0eea4a7ebfe8_2_25"/>
          <p:cNvSpPr txBox="1"/>
          <p:nvPr/>
        </p:nvSpPr>
        <p:spPr>
          <a:xfrm>
            <a:off x="4993800" y="632700"/>
            <a:ext cx="4157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2"/>
                </a:solidFill>
              </a:rPr>
              <a:t>목차 살짝 변경해보았습니다</a:t>
            </a:r>
            <a:endParaRPr sz="130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39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Google Shape;140;p24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1" name="Google Shape;141;p24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2" name="Google Shape;142;p24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143" name="Google Shape;143;p24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144" name="Google Shape;144;p24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45" name="Google Shape;145;p24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146" name="Google Shape;146;p24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147" name="Google Shape;147;p24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48" name="Google Shape;148;p24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149" name="Google Shape;149;p24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150" name="Google Shape;150;p24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51" name="Google Shape;151;p24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52" name="Google Shape;152;p24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700" b="1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Trebuchet MS"/>
                <a:sym typeface="Trebuchet MS"/>
              </a:rPr>
              <a:t>프로젝트 개요</a:t>
            </a:r>
            <a:endParaRPr sz="1100" dirty="0"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6314462" y="0"/>
            <a:ext cx="2552100" cy="3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  <a:cs typeface="Calibri"/>
              <a:sym typeface="Calibri"/>
            </a:endParaRPr>
          </a:p>
        </p:txBody>
      </p:sp>
      <p:grpSp>
        <p:nvGrpSpPr>
          <p:cNvPr id="154" name="Google Shape;154;p24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155" name="Google Shape;155;p24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56" name="Google Shape;156;p24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57" name="Google Shape;157;p24"/>
          <p:cNvSpPr txBox="1"/>
          <p:nvPr/>
        </p:nvSpPr>
        <p:spPr>
          <a:xfrm>
            <a:off x="511350" y="1348958"/>
            <a:ext cx="8121300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Calibri"/>
                <a:sym typeface="Calibri"/>
              </a:rPr>
              <a:t>SSLC 교육 플랫폼을 모방한 취약한 미러 사이트를 구축하고, OpenAI로 주요 웹 취약점을 자동 진단·시각화 한다.</a:t>
            </a:r>
            <a:endParaRPr sz="1300" b="1" dirty="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  <a:cs typeface="Calibri"/>
              <a:sym typeface="Calibri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1321432" y="3075394"/>
            <a:ext cx="841800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lt1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Calibri"/>
                <a:sym typeface="Calibri"/>
              </a:rPr>
              <a:t>이미지 폴더</a:t>
            </a:r>
            <a:endParaRPr sz="1100"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1537456" y="3560002"/>
            <a:ext cx="841800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lt1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Calibri"/>
                <a:sym typeface="Calibri"/>
              </a:rPr>
              <a:t>라벨 데이터</a:t>
            </a:r>
            <a:endParaRPr sz="1100"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511350" y="1810463"/>
            <a:ext cx="1729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문제 정의</a:t>
            </a:r>
            <a:endParaRPr sz="1500" b="1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270025" y="2244525"/>
            <a:ext cx="4148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기존 정적 분석 도구는 소스코드만 봐서 실제 악용 가능성을 모르고 오탐이 많다.</a:t>
            </a:r>
            <a:endParaRPr sz="1100" dirty="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알려진 패턴 위주로 우회·새로운 공격에 약하고, 수동 점검은 느리다.</a:t>
            </a:r>
            <a:endParaRPr sz="1100" dirty="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→ 실제 공격을 재현해 확증하고 AI로 취약점 위치를 찾아 맥락으로 판정하는 자동화 필요</a:t>
            </a:r>
            <a:endParaRPr sz="1100" dirty="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511350" y="3381863"/>
            <a:ext cx="1729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목표 · 기대효과</a:t>
            </a:r>
            <a:endParaRPr sz="1500" b="1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270025" y="3768450"/>
            <a:ext cx="5480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AI 기반 취약점 자동 진단 → 보안 점검의 속도 일관성 향상</a:t>
            </a:r>
            <a:endParaRPr sz="1100" dirty="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취약점 위치(Sink) 자동 탐색 → 숨은 입력점까지 빠짐없이 점검</a:t>
            </a:r>
            <a:endParaRPr sz="1100" dirty="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양호/취약 판단 근거를 로직으로 구현 -&gt; 결과 신뢰 ·  검증 가능</a:t>
            </a:r>
            <a:endParaRPr sz="1100" dirty="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결과 · 대응방안 대시보드 시각화 → 이해하기 쉽게 보안 상태 파악 가능</a:t>
            </a:r>
            <a:endParaRPr sz="1100" dirty="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graphicFrame>
        <p:nvGraphicFramePr>
          <p:cNvPr id="166" name="Google Shape;166;p24"/>
          <p:cNvGraphicFramePr/>
          <p:nvPr>
            <p:extLst>
              <p:ext uri="{D42A27DB-BD31-4B8C-83A1-F6EECF244321}">
                <p14:modId xmlns:p14="http://schemas.microsoft.com/office/powerpoint/2010/main" val="1623697367"/>
              </p:ext>
            </p:extLst>
          </p:nvPr>
        </p:nvGraphicFramePr>
        <p:xfrm>
          <a:off x="4474588" y="2045000"/>
          <a:ext cx="4185375" cy="1752450"/>
        </p:xfrm>
        <a:graphic>
          <a:graphicData uri="http://schemas.openxmlformats.org/drawingml/2006/table">
            <a:tbl>
              <a:tblPr>
                <a:noFill/>
                <a:tableStyleId>{074E6396-132D-4A47-AE8E-B7310185C481}</a:tableStyleId>
              </a:tblPr>
              <a:tblGrid>
                <a:gridCol w="139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 dirty="0"/>
                        <a:t>구분</a:t>
                      </a:r>
                      <a:endParaRPr sz="1100" b="1" dirty="0"/>
                    </a:p>
                  </a:txBody>
                  <a:tcPr marL="91425" marR="91425" marT="91425" marB="91425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 dirty="0"/>
                        <a:t>정적 도구</a:t>
                      </a:r>
                      <a:endParaRPr sz="1100" b="1" dirty="0"/>
                    </a:p>
                  </a:txBody>
                  <a:tcPr marL="91425" marR="91425" marT="91425" marB="91425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 dirty="0"/>
                        <a:t>ROOKIESCAN</a:t>
                      </a:r>
                      <a:endParaRPr sz="1100" b="1" dirty="0"/>
                    </a:p>
                  </a:txBody>
                  <a:tcPr marL="91425" marR="91425" marT="91425" marB="91425"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분석 대상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소스코드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실행 중인 앱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발견 방식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코드 패턴 매칭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AI sink 탐색 + 로직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악용 확인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불가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실제 재현으로 확증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오탐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많음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dirty="0"/>
                        <a:t>맥락 판단으로 저감</a:t>
                      </a:r>
                      <a:endParaRPr sz="11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7" name="Google Shape;167;p24"/>
          <p:cNvSpPr txBox="1"/>
          <p:nvPr/>
        </p:nvSpPr>
        <p:spPr>
          <a:xfrm>
            <a:off x="501330" y="944650"/>
            <a:ext cx="300000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 dirty="0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프로젝트 목적</a:t>
            </a:r>
            <a:endParaRPr sz="1600" b="1" dirty="0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33" name="Google Shape;149;h4a4a0eea4a7ebfe8_2_25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pic>
        <p:nvPicPr>
          <p:cNvPr id="34" name="Google Shape;164;h4a4a0eea4a7ebfe8_2_25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Google Shape;173;p25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74" name="Google Shape;174;p25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75" name="Google Shape;175;p25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176" name="Google Shape;176;p25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177" name="Google Shape;177;p25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78" name="Google Shape;178;p25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79" name="Google Shape;179;p25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700" b="1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Trebuchet MS"/>
                <a:sym typeface="Trebuchet MS"/>
              </a:rPr>
              <a:t>프로젝트 개요</a:t>
            </a:r>
            <a:endParaRPr sz="1100"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6314462" y="0"/>
            <a:ext cx="2552100" cy="3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  <a:cs typeface="Calibri"/>
              <a:sym typeface="Calibri"/>
            </a:endParaRPr>
          </a:p>
        </p:txBody>
      </p:sp>
      <p:grpSp>
        <p:nvGrpSpPr>
          <p:cNvPr id="182" name="Google Shape;182;p25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183" name="Google Shape;183;p25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84" name="Google Shape;184;p25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85" name="Google Shape;185;p25"/>
          <p:cNvSpPr/>
          <p:nvPr/>
        </p:nvSpPr>
        <p:spPr>
          <a:xfrm>
            <a:off x="6314462" y="0"/>
            <a:ext cx="2552100" cy="3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  <a:cs typeface="Calibri"/>
              <a:sym typeface="Calibri"/>
            </a:endParaRPr>
          </a:p>
        </p:txBody>
      </p:sp>
      <p:pic>
        <p:nvPicPr>
          <p:cNvPr id="187" name="Google Shape;18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400" y="1618306"/>
            <a:ext cx="6593000" cy="254457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5"/>
          <p:cNvSpPr txBox="1"/>
          <p:nvPr/>
        </p:nvSpPr>
        <p:spPr>
          <a:xfrm>
            <a:off x="1114250" y="1920450"/>
            <a:ext cx="21768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Sink(입력점) 탐색</a:t>
            </a:r>
            <a:endParaRPr sz="12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6B7785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크롤링·정규식으로 폼에 드러나지 않는 숨은 엔드포인트까지 코드로 자동 발견</a:t>
            </a:r>
            <a:endParaRPr sz="950">
              <a:solidFill>
                <a:srgbClr val="6B7785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1174250" y="3311750"/>
            <a:ext cx="20568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 b="1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동적 진단</a:t>
            </a:r>
            <a:endParaRPr sz="12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50">
                <a:solidFill>
                  <a:srgbClr val="6B7785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추정이 아니라 실제 요청·공격을 재현해 취약 여부를 확증, 맥락 판단으로 오탐 저감</a:t>
            </a:r>
            <a:endParaRPr sz="950">
              <a:solidFill>
                <a:srgbClr val="6B7785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3989563" y="1920450"/>
            <a:ext cx="20568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 b="1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9종 웹 취약점 자동 진단</a:t>
            </a:r>
            <a:endParaRPr sz="12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50">
                <a:solidFill>
                  <a:srgbClr val="6B7785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SQLi · XSS · SSRF · 인증/권한 · 파일 I/O · 포트/디렉터리, 관리자 노출을 실제 요청으로 점검</a:t>
            </a:r>
            <a:endParaRPr sz="950">
              <a:solidFill>
                <a:srgbClr val="6B7785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6744900" y="1920450"/>
            <a:ext cx="20568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 b="1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AI 스캐너 자동 선택·실행</a:t>
            </a:r>
            <a:endParaRPr sz="12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50">
                <a:solidFill>
                  <a:srgbClr val="6B7785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엔드포인트별로 적합한 스캐너를 OpenAI function-call로 AI가 선택·실행</a:t>
            </a:r>
            <a:endParaRPr sz="950">
              <a:solidFill>
                <a:srgbClr val="6B7785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3989575" y="3311750"/>
            <a:ext cx="20568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 b="1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공통 JSON 입출력 규격</a:t>
            </a:r>
            <a:endParaRPr sz="12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50">
                <a:solidFill>
                  <a:srgbClr val="6B7785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전 모듈이 같은 입·출력 포맷을 사용 → 손쉬운 통합</a:t>
            </a:r>
            <a:endParaRPr sz="950">
              <a:solidFill>
                <a:srgbClr val="6B7785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93" name="Google Shape;193;p25"/>
          <p:cNvSpPr txBox="1"/>
          <p:nvPr/>
        </p:nvSpPr>
        <p:spPr>
          <a:xfrm>
            <a:off x="6744900" y="3311750"/>
            <a:ext cx="18420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 b="1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AI 결과 분석 + 대시보드</a:t>
            </a:r>
            <a:endParaRPr sz="12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50">
                <a:solidFill>
                  <a:srgbClr val="6B7785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AI가 결과를 분석해 보고서를 작성하고 Streamlit로 시각화</a:t>
            </a:r>
            <a:endParaRPr sz="950">
              <a:solidFill>
                <a:srgbClr val="6B7785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grpSp>
        <p:nvGrpSpPr>
          <p:cNvPr id="194" name="Google Shape;194;p25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195" name="Google Shape;195;p25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96" name="Google Shape;196;p25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97" name="Google Shape;197;p25"/>
          <p:cNvSpPr txBox="1"/>
          <p:nvPr/>
        </p:nvSpPr>
        <p:spPr>
          <a:xfrm>
            <a:off x="732625" y="1019300"/>
            <a:ext cx="300000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주요 기능</a:t>
            </a:r>
            <a:endParaRPr sz="16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grpSp>
        <p:nvGrpSpPr>
          <p:cNvPr id="198" name="Google Shape;198;p25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199" name="Google Shape;199;p25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00" name="Google Shape;200;p25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201" name="Google Shape;201;p25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202" name="Google Shape;202;p25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03" name="Google Shape;203;p25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35" name="Google Shape;149;h4a4a0eea4a7ebfe8_2_25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pic>
        <p:nvPicPr>
          <p:cNvPr id="36" name="Google Shape;164;h4a4a0eea4a7ebfe8_2_25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4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4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7" name="Google Shape;57;p14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8" name="Google Shape;58;p14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62" name="Google Shape;62;p14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63" name="Google Shape;63;p14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64" name="Google Shape;64;p14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65" name="Google Shape;65;p14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66" name="Google Shape;66;p14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67" name="Google Shape;67;p14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68" name="Google Shape;68;p14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700" b="1">
                <a:solidFill>
                  <a:schemeClr val="dk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팀원별 담당 영역</a:t>
            </a:r>
            <a:endParaRPr sz="1100">
              <a:latin typeface="Trebuchet MS" panose="020B0603020202020204" pitchFamily="34" charset="0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6314462" y="0"/>
            <a:ext cx="2552100" cy="3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70;p14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71" name="Google Shape;71;p14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72" name="Google Shape;72;p14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73" name="Google Shape;73;p14"/>
          <p:cNvSpPr txBox="1"/>
          <p:nvPr/>
        </p:nvSpPr>
        <p:spPr>
          <a:xfrm>
            <a:off x="1709682" y="3113257"/>
            <a:ext cx="841800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l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이미지 폴더</a:t>
            </a:r>
            <a:endParaRPr sz="1100">
              <a:latin typeface="Trebuchet MS" panose="020B0603020202020204" pitchFamily="34" charset="0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1925706" y="3597864"/>
            <a:ext cx="841800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l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라벨 데이터</a:t>
            </a:r>
            <a:endParaRPr sz="1100">
              <a:latin typeface="Trebuchet MS" panose="020B0603020202020204" pitchFamily="34" charset="0"/>
            </a:endParaRPr>
          </a:p>
        </p:txBody>
      </p:sp>
      <p:pic>
        <p:nvPicPr>
          <p:cNvPr id="76" name="Google Shape;76;p14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7" name="Google Shape;77;p14"/>
          <p:cNvGraphicFramePr/>
          <p:nvPr>
            <p:extLst>
              <p:ext uri="{D42A27DB-BD31-4B8C-83A1-F6EECF244321}">
                <p14:modId xmlns:p14="http://schemas.microsoft.com/office/powerpoint/2010/main" val="1387371319"/>
              </p:ext>
            </p:extLst>
          </p:nvPr>
        </p:nvGraphicFramePr>
        <p:xfrm>
          <a:off x="929300" y="1129800"/>
          <a:ext cx="7239000" cy="37792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1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이름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담당 영역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김승민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인증, 인가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(로그인/세션 검증과 사용자 권한에 따른 접근 가능 여부를 자동으로 점검) 및 </a:t>
                      </a: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Scanner 통합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배소윤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Reflected XSS 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(사용자 입력의 반사 여부와 인코딩·HTML Context를 분석하여 취약점 진단)  및 </a:t>
                      </a: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AI, Dashboard 연동 구현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서효빈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SQL Injection 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(DB 오류 및 Boolean 조건에 따른 응답 차이를 분석하여 SQLi 여부를 판정) 및 </a:t>
                      </a: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Streamlit UI&amp;UX 설계 및 구현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송정현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SSRF 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(외부·내부 URL 요청 결과를 비교하고 서버 측 요청 발생 여부를 검증)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유영택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웹 개발, Sink 탐색 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(취약점 진단 대상이 되는 웹 서비스와 Sink 탐색 기능을 구현) 및 </a:t>
                      </a: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Scanner 통합 구조 설계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정래언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파일 업로드·다운로드 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(악성 파일, 경로 조작, 권한 검증 등 파일 관련 취약점 진단)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최윤석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스캐닝, 관리자 페이지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(외부 노출 포트와 디렉터리 목록, 비로그인 관리자 페이지 노출 여부를 진단)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927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26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10" name="Google Shape;210;p26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11" name="Google Shape;211;p26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212" name="Google Shape;212;p26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213" name="Google Shape;213;p26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14" name="Google Shape;214;p26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215" name="Google Shape;215;p26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700" b="1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Trebuchet MS"/>
                <a:sym typeface="Trebuchet MS"/>
              </a:rPr>
              <a:t>프로젝트 개요</a:t>
            </a:r>
            <a:endParaRPr sz="1100"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6314462" y="0"/>
            <a:ext cx="2552100" cy="3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  <a:cs typeface="Calibri"/>
              <a:sym typeface="Calibri"/>
            </a:endParaRPr>
          </a:p>
        </p:txBody>
      </p:sp>
      <p:grpSp>
        <p:nvGrpSpPr>
          <p:cNvPr id="218" name="Google Shape;218;p26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219" name="Google Shape;219;p26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20" name="Google Shape;220;p26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221" name="Google Shape;221;p26"/>
          <p:cNvSpPr/>
          <p:nvPr/>
        </p:nvSpPr>
        <p:spPr>
          <a:xfrm>
            <a:off x="6314462" y="0"/>
            <a:ext cx="2552100" cy="3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  <a:cs typeface="Calibri"/>
              <a:sym typeface="Calibri"/>
            </a:endParaRPr>
          </a:p>
        </p:txBody>
      </p:sp>
      <p:pic>
        <p:nvPicPr>
          <p:cNvPr id="222" name="Google Shape;222;p26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26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224" name="Google Shape;224;p26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25" name="Google Shape;225;p26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aphicFrame>
        <p:nvGraphicFramePr>
          <p:cNvPr id="226" name="Google Shape;226;p26"/>
          <p:cNvGraphicFramePr/>
          <p:nvPr>
            <p:extLst>
              <p:ext uri="{D42A27DB-BD31-4B8C-83A1-F6EECF244321}">
                <p14:modId xmlns:p14="http://schemas.microsoft.com/office/powerpoint/2010/main" val="1030656684"/>
              </p:ext>
            </p:extLst>
          </p:nvPr>
        </p:nvGraphicFramePr>
        <p:xfrm>
          <a:off x="1791613" y="1761700"/>
          <a:ext cx="5476875" cy="2667000"/>
        </p:xfrm>
        <a:graphic>
          <a:graphicData uri="http://schemas.openxmlformats.org/drawingml/2006/table">
            <a:tbl>
              <a:tblPr>
                <a:noFill/>
                <a:tableStyleId>{1A3A4B79-66B9-4357-A97E-9B9FBA69876A}</a:tableStyleId>
              </a:tblPr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rgbClr val="1C2733"/>
                          </a:solidFill>
                        </a:rPr>
                        <a:t>구분</a:t>
                      </a:r>
                      <a:endParaRPr sz="1100" b="1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rgbClr val="1C2733"/>
                          </a:solidFill>
                        </a:rPr>
                        <a:t>사용 기술</a:t>
                      </a:r>
                      <a:endParaRPr sz="1100" b="1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언어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Python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대상 웹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Flask · Nginx · MySQL · Docker · AWS EC2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AI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OpenAI API (Function Calling)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스캐너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requests · BeautifulSoup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대시보드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Streamlit · pandas · altair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공통 규격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JSON 입출력 스키마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7" name="Google Shape;227;p26"/>
          <p:cNvSpPr txBox="1"/>
          <p:nvPr/>
        </p:nvSpPr>
        <p:spPr>
          <a:xfrm>
            <a:off x="732625" y="1019300"/>
            <a:ext cx="300000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도구 &amp; 기술 스택</a:t>
            </a:r>
            <a:endParaRPr sz="16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grpSp>
        <p:nvGrpSpPr>
          <p:cNvPr id="228" name="Google Shape;228;p26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229" name="Google Shape;229;p26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30" name="Google Shape;230;p26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231" name="Google Shape;231;p26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232" name="Google Shape;232;p26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33" name="Google Shape;233;p26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"/>
          <p:cNvSpPr/>
          <p:nvPr/>
        </p:nvSpPr>
        <p:spPr>
          <a:xfrm>
            <a:off x="470100" y="2006878"/>
            <a:ext cx="2468700" cy="2505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7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316" name="Google Shape;316;p7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317" name="Google Shape;317;p7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318" name="Google Shape;318;p7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319" name="Google Shape;319;p7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20" name="Google Shape;320;p7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321" name="Google Shape;321;p7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322" name="Google Shape;322;p7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23" name="Google Shape;323;p7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324" name="Google Shape;324;p7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325" name="Google Shape;325;p7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26" name="Google Shape;326;p7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327" name="Google Shape;327;p7"/>
          <p:cNvSpPr txBox="1"/>
          <p:nvPr/>
        </p:nvSpPr>
        <p:spPr>
          <a:xfrm>
            <a:off x="511422" y="435899"/>
            <a:ext cx="81213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전체 PIPELINE 구조 </a:t>
            </a:r>
            <a:r>
              <a:rPr lang="en-US" sz="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검사 대상의 취약점 후보를 탐색 후 적합한 Scanner로 진단하며 AI 분석으로 통해 결과를 시각화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6314462" y="0"/>
            <a:ext cx="2552100" cy="3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9" name="Google Shape;329;p7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330" name="Google Shape;330;p7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31" name="Google Shape;331;p7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332" name="Google Shape;332;p7"/>
          <p:cNvSpPr txBox="1"/>
          <p:nvPr/>
        </p:nvSpPr>
        <p:spPr>
          <a:xfrm>
            <a:off x="899592" y="195921"/>
            <a:ext cx="2271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ROOKIESCAN / 취약점 싹쓰리</a:t>
            </a: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3" name="Google Shape;333;p7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7"/>
          <p:cNvSpPr/>
          <p:nvPr/>
        </p:nvSpPr>
        <p:spPr>
          <a:xfrm>
            <a:off x="6191375" y="1979658"/>
            <a:ext cx="2468700" cy="2505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3372775" y="1979658"/>
            <a:ext cx="2468700" cy="2505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7"/>
          <p:cNvSpPr txBox="1"/>
          <p:nvPr/>
        </p:nvSpPr>
        <p:spPr>
          <a:xfrm>
            <a:off x="659325" y="1819780"/>
            <a:ext cx="2189700" cy="22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진단을 수행할 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대상 웹 서비스와 인증 정보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를 입력하고 자동 진단을 위한 초기 환경을 구성한다. 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URL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입력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A / User B Session Cookie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입력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7"/>
          <p:cNvSpPr txBox="1"/>
          <p:nvPr/>
        </p:nvSpPr>
        <p:spPr>
          <a:xfrm>
            <a:off x="3512275" y="1820014"/>
            <a:ext cx="2189700" cy="22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대상 웹 서비스를 크롤링하여 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실제로 검사할 수 있는 URL과 입력 지점(Sink 후보)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을 수집한다. 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웹 페이지의 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Link, Form, Input 수집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JavaScript에서 발생하는 요청 확인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숨겨진 경로 및 반복되는 Endpoint 탐색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7"/>
          <p:cNvSpPr txBox="1"/>
          <p:nvPr/>
        </p:nvSpPr>
        <p:spPr>
          <a:xfrm>
            <a:off x="6330888" y="1804000"/>
            <a:ext cx="2189700" cy="24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수집한 후보 지점의 특성을 분석하여 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어떤 취약점 Scanner로 검사할지 결정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한다. </a:t>
            </a:r>
            <a:endParaRPr sz="1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수집된 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분석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 Method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확인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Parameter 및 입력 타입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확인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후보 지점에 적합한 취약점 분류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OpenAI Function Call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을 통해 적합한 Scanner 선택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"/>
          <p:cNvSpPr txBox="1"/>
          <p:nvPr/>
        </p:nvSpPr>
        <p:spPr>
          <a:xfrm>
            <a:off x="511433" y="1019300"/>
            <a:ext cx="1526100" cy="231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진단 준비</a:t>
            </a:r>
            <a:endParaRPr sz="1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 txBox="1"/>
          <p:nvPr/>
        </p:nvSpPr>
        <p:spPr>
          <a:xfrm>
            <a:off x="642111" y="1531657"/>
            <a:ext cx="21897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검사 대상 정보 입력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 txBox="1"/>
          <p:nvPr/>
        </p:nvSpPr>
        <p:spPr>
          <a:xfrm>
            <a:off x="3494080" y="1539139"/>
            <a:ext cx="21897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취약점 후보 지점 탐색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7"/>
          <p:cNvSpPr txBox="1"/>
          <p:nvPr/>
        </p:nvSpPr>
        <p:spPr>
          <a:xfrm>
            <a:off x="6314462" y="1553108"/>
            <a:ext cx="21897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취약점 Scanner 선택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"/>
          <p:cNvSpPr txBox="1"/>
          <p:nvPr/>
        </p:nvSpPr>
        <p:spPr>
          <a:xfrm>
            <a:off x="2712575" y="786863"/>
            <a:ext cx="2971200" cy="6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B7FF2"/>
                </a:solidFill>
              </a:rPr>
              <a:t>7, 8 </a:t>
            </a:r>
            <a:r>
              <a:rPr lang="en-US" sz="1800" dirty="0" err="1">
                <a:solidFill>
                  <a:srgbClr val="3B7FF2"/>
                </a:solidFill>
              </a:rPr>
              <a:t>페이지</a:t>
            </a:r>
            <a:r>
              <a:rPr lang="en-US" sz="1800" dirty="0">
                <a:solidFill>
                  <a:srgbClr val="3B7FF2"/>
                </a:solidFill>
              </a:rPr>
              <a:t> </a:t>
            </a:r>
            <a:r>
              <a:rPr lang="en-US" sz="1800" dirty="0" err="1">
                <a:solidFill>
                  <a:srgbClr val="3B7FF2"/>
                </a:solidFill>
              </a:rPr>
              <a:t>하나로</a:t>
            </a:r>
            <a:r>
              <a:rPr lang="en-US" sz="1800" dirty="0">
                <a:solidFill>
                  <a:srgbClr val="3B7FF2"/>
                </a:solidFill>
              </a:rPr>
              <a:t> </a:t>
            </a:r>
            <a:r>
              <a:rPr lang="en-US" sz="1800" dirty="0" err="1">
                <a:solidFill>
                  <a:srgbClr val="3B7FF2"/>
                </a:solidFill>
              </a:rPr>
              <a:t>가능하신가요</a:t>
            </a:r>
            <a:r>
              <a:rPr lang="en-US" sz="1800" dirty="0">
                <a:solidFill>
                  <a:srgbClr val="3B7FF2"/>
                </a:solidFill>
              </a:rPr>
              <a:t> </a:t>
            </a:r>
            <a:r>
              <a:rPr lang="en-US" sz="1800" dirty="0" err="1">
                <a:solidFill>
                  <a:srgbClr val="3B7FF2"/>
                </a:solidFill>
              </a:rPr>
              <a:t>파이프라인이</a:t>
            </a:r>
            <a:r>
              <a:rPr lang="en-US" sz="1800" dirty="0">
                <a:solidFill>
                  <a:srgbClr val="3B7FF2"/>
                </a:solidFill>
              </a:rPr>
              <a:t> 잘 </a:t>
            </a:r>
            <a:r>
              <a:rPr lang="en-US" sz="1800" dirty="0" err="1">
                <a:solidFill>
                  <a:srgbClr val="3B7FF2"/>
                </a:solidFill>
              </a:rPr>
              <a:t>안보이는</a:t>
            </a:r>
            <a:r>
              <a:rPr lang="en-US" sz="1800" dirty="0">
                <a:solidFill>
                  <a:srgbClr val="3B7FF2"/>
                </a:solidFill>
              </a:rPr>
              <a:t> 거 </a:t>
            </a:r>
            <a:r>
              <a:rPr lang="en-US" sz="1800" dirty="0" err="1">
                <a:solidFill>
                  <a:srgbClr val="3B7FF2"/>
                </a:solidFill>
              </a:rPr>
              <a:t>같습니다</a:t>
            </a:r>
            <a:r>
              <a:rPr lang="en-US" sz="1800" dirty="0">
                <a:solidFill>
                  <a:srgbClr val="3B7FF2"/>
                </a:solidFill>
              </a:rPr>
              <a:t>.</a:t>
            </a:r>
            <a:endParaRPr sz="1800" dirty="0">
              <a:solidFill>
                <a:srgbClr val="3B7FF2"/>
              </a:solidFill>
            </a:endParaRPr>
          </a:p>
        </p:txBody>
      </p:sp>
      <p:cxnSp>
        <p:nvCxnSpPr>
          <p:cNvPr id="344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214791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8"/>
          <p:cNvSpPr/>
          <p:nvPr/>
        </p:nvSpPr>
        <p:spPr>
          <a:xfrm>
            <a:off x="554175" y="2010908"/>
            <a:ext cx="2468700" cy="2505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8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352" name="Google Shape;352;p8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353" name="Google Shape;353;p8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354" name="Google Shape;354;p8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355" name="Google Shape;355;p8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56" name="Google Shape;356;p8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357" name="Google Shape;357;p8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358" name="Google Shape;358;p8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59" name="Google Shape;359;p8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360" name="Google Shape;360;p8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361" name="Google Shape;361;p8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62" name="Google Shape;362;p8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363" name="Google Shape;363;p8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전체 PIPELINE 구조  </a:t>
            </a:r>
            <a:r>
              <a:rPr lang="en-US" sz="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검사 대상의 취약점 후보를 탐색 후 적합한 Scanner로 진단하며 AI 분석으로 통해 결과를 시각화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6314462" y="0"/>
            <a:ext cx="2552100" cy="3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5" name="Google Shape;365;p8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366" name="Google Shape;366;p8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67" name="Google Shape;367;p8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368" name="Google Shape;368;p8"/>
          <p:cNvSpPr txBox="1"/>
          <p:nvPr/>
        </p:nvSpPr>
        <p:spPr>
          <a:xfrm>
            <a:off x="899592" y="195921"/>
            <a:ext cx="2271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ROOKIESCAN / 취약점 싹쓰리</a:t>
            </a: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69" name="Google Shape;369;p8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8"/>
          <p:cNvSpPr/>
          <p:nvPr/>
        </p:nvSpPr>
        <p:spPr>
          <a:xfrm>
            <a:off x="6191375" y="1979658"/>
            <a:ext cx="2468700" cy="2505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3372775" y="1979658"/>
            <a:ext cx="2468700" cy="2505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"/>
          <p:cNvSpPr txBox="1"/>
          <p:nvPr/>
        </p:nvSpPr>
        <p:spPr>
          <a:xfrm>
            <a:off x="639838" y="1845622"/>
            <a:ext cx="2189700" cy="2217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선택된 Scanner가 실제 대상 서비스에 </a:t>
            </a: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 요청을 전송하고 HTTP 응답을 분석하여 취약 여부를 판정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한다. </a:t>
            </a:r>
            <a:endParaRPr sz="1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선택된 Scanner 실행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취약점 유형별 테스트 요청 전송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 </a:t>
            </a: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Status / Header / Body / 처리 결과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분석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취약점별 판정 기준 적용 및 진단 결과 수집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8"/>
          <p:cNvSpPr txBox="1"/>
          <p:nvPr/>
        </p:nvSpPr>
        <p:spPr>
          <a:xfrm>
            <a:off x="3453112" y="1829142"/>
            <a:ext cx="2189700" cy="22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각 Scanner에서 생성된 결과를 </a:t>
            </a: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하나의 공통 결과로 통합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하고, AI를 활용해 진단 결과를 추가 분석한다.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서로 다른 Scanner 결과 통합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Finding/Evidence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Verdict/Severity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주요 취약점 식별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탐지 결과를 기반으로 연계 가능한 공격 시나리오 분석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 txBox="1"/>
          <p:nvPr/>
        </p:nvSpPr>
        <p:spPr>
          <a:xfrm>
            <a:off x="6314462" y="1866446"/>
            <a:ext cx="2189700" cy="24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최종 진단 결과를 사용자가 쉽게 확인할 수 있도록 </a:t>
            </a: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Dashboard와 보고서 형태로 제공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한다. </a:t>
            </a:r>
            <a:endParaRPr sz="1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Streamlit Dashboard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를 통한 결과 시각화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취약점별 Finding 확인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탐지 근거(Evidence) 확인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분석 결과 및 대응 내용 확인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PDF 보고서 생성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JSON 결과 제공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8"/>
          <p:cNvSpPr txBox="1"/>
          <p:nvPr/>
        </p:nvSpPr>
        <p:spPr>
          <a:xfrm>
            <a:off x="511424" y="1003834"/>
            <a:ext cx="1996247" cy="23083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진단 수행 및 결과 처리</a:t>
            </a:r>
            <a:endParaRPr sz="1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8"/>
          <p:cNvSpPr txBox="1"/>
          <p:nvPr/>
        </p:nvSpPr>
        <p:spPr>
          <a:xfrm>
            <a:off x="642111" y="1531657"/>
            <a:ext cx="21897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취약점 진단 수행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8"/>
          <p:cNvSpPr txBox="1"/>
          <p:nvPr/>
        </p:nvSpPr>
        <p:spPr>
          <a:xfrm>
            <a:off x="3494080" y="1539139"/>
            <a:ext cx="21897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결과 통합 및 AI 분석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6314462" y="1553108"/>
            <a:ext cx="21897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결과 제공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p8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460599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ko-KR" altLang="en-US" sz="1050">
              <a:solidFill>
                <a:schemeClr val="tx1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851838" y="2365259"/>
            <a:ext cx="747308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3000" b="1">
                <a:latin typeface="Trebuchet MS"/>
                <a:ea typeface="맑은 고딕"/>
              </a:rPr>
              <a:t>SSLC </a:t>
            </a:r>
            <a:r>
              <a:rPr lang="ko-KR" altLang="en-US" sz="3000" b="1">
                <a:latin typeface="Trebuchet MS"/>
                <a:ea typeface="맑은 고딕"/>
              </a:rPr>
              <a:t>미러 사이트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3623" y="3638963"/>
            <a:ext cx="1949584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r">
              <a:defRPr/>
            </a:pPr>
            <a:endParaRPr lang="en-US" altLang="ko-KR" sz="1500">
              <a:latin typeface="Arial"/>
              <a:ea typeface="맑은 고딕"/>
            </a:endParaRPr>
          </a:p>
          <a:p>
            <a:pPr algn="r">
              <a:defRPr/>
            </a:pPr>
            <a:endParaRPr lang="en-US" altLang="ko-KR" sz="1500">
              <a:latin typeface="Arial"/>
              <a:ea typeface="맑은 고딕"/>
            </a:endParaRPr>
          </a:p>
          <a:p>
            <a:pPr algn="r">
              <a:defRPr/>
            </a:pPr>
            <a:r>
              <a:rPr lang="ko-KR" altLang="en-US" sz="1500" b="1">
                <a:latin typeface="Arial"/>
                <a:ea typeface="맑은 고딕"/>
              </a:rPr>
              <a:t>감사합니다</a:t>
            </a:r>
            <a:r>
              <a:rPr lang="en-US" altLang="ko-KR" sz="1500" b="1">
                <a:latin typeface="Arial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82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취약한 </a:t>
            </a:r>
            <a:r>
              <a:rPr lang="en-US" altLang="ko-KR" sz="2700" b="1">
                <a:latin typeface="Trebuchet MS" panose="020B0603020202020204" pitchFamily="34" charset="0"/>
                <a:ea typeface="맑은 고딕"/>
              </a:rPr>
              <a:t>SSLC </a:t>
            </a: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미러 사이트 구축 배경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ko-KR" altLang="en-US" sz="105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467543" y="4640390"/>
            <a:ext cx="1366080" cy="3348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788">
                <a:latin typeface="Trebuchet MS" panose="020B0603020202020204" pitchFamily="34" charset="0"/>
              </a:rPr>
              <a:t>* </a:t>
            </a:r>
            <a:r>
              <a:rPr lang="en-US" altLang="ko-KR" sz="788" b="1">
                <a:latin typeface="Trebuchet MS" panose="020B0603020202020204" pitchFamily="34" charset="0"/>
              </a:rPr>
              <a:t>Site :</a:t>
            </a:r>
            <a:r>
              <a:rPr lang="en-US" altLang="ko-KR" sz="788">
                <a:latin typeface="Trebuchet MS" panose="020B0603020202020204" pitchFamily="34" charset="0"/>
              </a:rPr>
              <a:t>  </a:t>
            </a:r>
            <a:r>
              <a:rPr lang="en-US" altLang="ko-KR" sz="788">
                <a:latin typeface="Trebuchet MS" panose="020B0603020202020204" pitchFamily="34" charset="0"/>
                <a:hlinkClick r:id="rId3"/>
              </a:rPr>
              <a:t>AWS 배포 사이트</a:t>
            </a:r>
            <a:endParaRPr lang="en-US" altLang="ko-KR" sz="788">
              <a:latin typeface="Trebuchet MS" panose="020B0603020202020204" pitchFamily="34" charset="0"/>
            </a:endParaRPr>
          </a:p>
          <a:p>
            <a:pPr lvl="0">
              <a:defRPr/>
            </a:pPr>
            <a:r>
              <a:rPr lang="en-US" altLang="ko-KR" sz="788">
                <a:latin typeface="Trebuchet MS" panose="020B0603020202020204" pitchFamily="34" charset="0"/>
              </a:rPr>
              <a:t>* </a:t>
            </a:r>
            <a:r>
              <a:rPr lang="en-US" altLang="ko-KR" sz="788" b="1">
                <a:latin typeface="Trebuchet MS" panose="020B0603020202020204" pitchFamily="34" charset="0"/>
              </a:rPr>
              <a:t>Github</a:t>
            </a:r>
            <a:r>
              <a:rPr lang="en-US" altLang="ko-KR" sz="788">
                <a:latin typeface="Trebuchet MS" panose="020B0603020202020204" pitchFamily="34" charset="0"/>
              </a:rPr>
              <a:t> </a:t>
            </a:r>
            <a:r>
              <a:rPr lang="en-US" altLang="ko-KR" sz="788" b="1">
                <a:latin typeface="Trebuchet MS" panose="020B0603020202020204" pitchFamily="34" charset="0"/>
              </a:rPr>
              <a:t>:</a:t>
            </a:r>
            <a:r>
              <a:rPr lang="en-US" altLang="ko-KR" sz="788">
                <a:latin typeface="Trebuchet MS" panose="020B0603020202020204" pitchFamily="34" charset="0"/>
              </a:rPr>
              <a:t> </a:t>
            </a:r>
            <a:r>
              <a:rPr lang="en-US" altLang="ko-KR" sz="788">
                <a:latin typeface="Trebuchet MS" panose="020B0603020202020204" pitchFamily="34" charset="0"/>
                <a:hlinkClick r:id="rId4"/>
              </a:rPr>
              <a:t>sslc-lab</a:t>
            </a:r>
            <a:endParaRPr lang="en-US" altLang="ko-KR" sz="788">
              <a:latin typeface="Trebuchet MS" panose="020B0603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6840" y="1383369"/>
            <a:ext cx="108012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lvl="0">
              <a:defRPr/>
            </a:pPr>
            <a:r>
              <a:rPr lang="en-US" altLang="ko-KR" sz="1500" b="1">
                <a:latin typeface="Trebuchet MS" panose="020B0603020202020204" pitchFamily="34" charset="0"/>
                <a:ea typeface="맑은 고딕"/>
              </a:rPr>
              <a:t>SSLC </a:t>
            </a:r>
            <a:r>
              <a:rPr lang="ko-KR" altLang="en-US" sz="1500" b="1">
                <a:latin typeface="Trebuchet MS" panose="020B0603020202020204" pitchFamily="34" charset="0"/>
                <a:ea typeface="맑은 고딕"/>
              </a:rPr>
              <a:t>구조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2030" y="1984756"/>
            <a:ext cx="3942438" cy="646331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sz="105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Rookies</a:t>
            </a:r>
            <a:r>
              <a:rPr lang="ko-KR" altLang="en-US" sz="105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수업을 듣는 </a:t>
            </a:r>
            <a:r>
              <a:rPr lang="en-US" altLang="ko-KR" sz="105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SSLC</a:t>
            </a:r>
            <a:r>
              <a:rPr lang="ko-KR" altLang="en-US" sz="105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사이트가 모두에게 친숙하고 취약한 기능을 추가하기에 알맞은 환경이라고 생각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pic>
        <p:nvPicPr>
          <p:cNvPr id="32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5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pic>
        <p:nvPicPr>
          <p:cNvPr id="51" name="그림 5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26840" y="1775971"/>
            <a:ext cx="4077443" cy="2685989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  <a:effectLst/>
        </p:spPr>
      </p:pic>
      <p:sp>
        <p:nvSpPr>
          <p:cNvPr id="52" name="TextBox 27"/>
          <p:cNvSpPr txBox="1"/>
          <p:nvPr/>
        </p:nvSpPr>
        <p:spPr>
          <a:xfrm>
            <a:off x="4842031" y="1768367"/>
            <a:ext cx="902807" cy="230832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342900">
              <a:spcBef>
                <a:spcPct val="0"/>
              </a:spcBef>
              <a:defRPr/>
            </a:pPr>
            <a:r>
              <a:rPr lang="ko-KR" altLang="en-US" sz="1500" b="1" kern="1200">
                <a:latin typeface="Trebuchet MS" panose="020B0603020202020204" pitchFamily="34" charset="0"/>
                <a:ea typeface="맑은 고딕"/>
              </a:rPr>
              <a:t>배경</a:t>
            </a:r>
          </a:p>
        </p:txBody>
      </p:sp>
      <p:sp>
        <p:nvSpPr>
          <p:cNvPr id="61" name="TextBox 47"/>
          <p:cNvSpPr txBox="1"/>
          <p:nvPr/>
        </p:nvSpPr>
        <p:spPr>
          <a:xfrm>
            <a:off x="4842030" y="3127700"/>
            <a:ext cx="3942438" cy="193899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149940" indent="-149940" defTabSz="342900">
              <a:lnSpc>
                <a:spcPct val="200000"/>
              </a:lnSpc>
              <a:buFont typeface="Arial"/>
              <a:buChar char="•"/>
              <a:defRPr/>
            </a:pPr>
            <a:r>
              <a:rPr lang="ko-KR" altLang="en-US" sz="1050" kern="1200">
                <a:latin typeface="Trebuchet MS" panose="020B0603020202020204" pitchFamily="34" charset="0"/>
              </a:rPr>
              <a:t>내클래스에서   인덱스</a:t>
            </a:r>
            <a:r>
              <a:rPr lang="en-US" altLang="ko-KR" sz="1050" kern="1200">
                <a:latin typeface="Trebuchet MS" panose="020B0603020202020204" pitchFamily="34" charset="0"/>
              </a:rPr>
              <a:t>,</a:t>
            </a:r>
            <a:r>
              <a:rPr lang="ko-KR" altLang="en-US" sz="1050" kern="1200">
                <a:latin typeface="Trebuchet MS" panose="020B0603020202020204" pitchFamily="34" charset="0"/>
              </a:rPr>
              <a:t> 공지사항</a:t>
            </a:r>
            <a:r>
              <a:rPr lang="en-US" altLang="ko-KR" sz="1050" kern="1200">
                <a:latin typeface="Trebuchet MS" panose="020B0603020202020204" pitchFamily="34" charset="0"/>
              </a:rPr>
              <a:t>,</a:t>
            </a:r>
            <a:r>
              <a:rPr lang="ko-KR" altLang="en-US" sz="1050" kern="1200">
                <a:latin typeface="Trebuchet MS" panose="020B0603020202020204" pitchFamily="34" charset="0"/>
              </a:rPr>
              <a:t> 과제</a:t>
            </a:r>
            <a:r>
              <a:rPr lang="en-US" altLang="ko-KR" sz="1050" kern="1200">
                <a:latin typeface="Trebuchet MS" panose="020B0603020202020204" pitchFamily="34" charset="0"/>
              </a:rPr>
              <a:t>,</a:t>
            </a:r>
            <a:r>
              <a:rPr lang="ko-KR" altLang="en-US" sz="1050" kern="1200">
                <a:latin typeface="Trebuchet MS" panose="020B0603020202020204" pitchFamily="34" charset="0"/>
              </a:rPr>
              <a:t> </a:t>
            </a:r>
            <a:r>
              <a:rPr lang="en-US" altLang="ko-KR" sz="1050" kern="1200">
                <a:latin typeface="Trebuchet MS" panose="020B0603020202020204" pitchFamily="34" charset="0"/>
              </a:rPr>
              <a:t>PBL, </a:t>
            </a:r>
            <a:r>
              <a:rPr lang="ko-KR" altLang="en-US" sz="1050" kern="1200">
                <a:latin typeface="Trebuchet MS" panose="020B0603020202020204" pitchFamily="34" charset="0"/>
              </a:rPr>
              <a:t>학습게시판 구현</a:t>
            </a:r>
          </a:p>
          <a:p>
            <a:pPr marL="149940" indent="-149940" defTabSz="342900">
              <a:lnSpc>
                <a:spcPct val="200000"/>
              </a:lnSpc>
              <a:buFont typeface="Arial"/>
              <a:buChar char="•"/>
              <a:defRPr/>
            </a:pPr>
            <a:r>
              <a:rPr lang="ko-KR" altLang="en-US" sz="1050" kern="1200">
                <a:latin typeface="Trebuchet MS" panose="020B0603020202020204" pitchFamily="34" charset="0"/>
              </a:rPr>
              <a:t>지식 컨텐츠 구현</a:t>
            </a:r>
          </a:p>
          <a:p>
            <a:pPr marL="149940" indent="-149940" defTabSz="342900">
              <a:lnSpc>
                <a:spcPct val="200000"/>
              </a:lnSpc>
              <a:buFont typeface="Arial"/>
              <a:buChar char="•"/>
              <a:defRPr/>
            </a:pPr>
            <a:r>
              <a:rPr lang="ko-KR" altLang="en-US" sz="1050" kern="1200">
                <a:latin typeface="Trebuchet MS" panose="020B0603020202020204" pitchFamily="34" charset="0"/>
              </a:rPr>
              <a:t>학습 지원에서 자료실</a:t>
            </a:r>
            <a:r>
              <a:rPr lang="en-US" altLang="ko-KR" sz="1050" kern="1200">
                <a:latin typeface="Trebuchet MS" panose="020B0603020202020204" pitchFamily="34" charset="0"/>
              </a:rPr>
              <a:t>,</a:t>
            </a:r>
            <a:r>
              <a:rPr lang="ko-KR" altLang="en-US" sz="1050" kern="1200">
                <a:latin typeface="Trebuchet MS" panose="020B0603020202020204" pitchFamily="34" charset="0"/>
              </a:rPr>
              <a:t> </a:t>
            </a:r>
            <a:r>
              <a:rPr lang="en-US" altLang="ko-KR" sz="1050" kern="1200">
                <a:latin typeface="Trebuchet MS" panose="020B0603020202020204" pitchFamily="34" charset="0"/>
              </a:rPr>
              <a:t>FAQ, </a:t>
            </a:r>
            <a:r>
              <a:rPr lang="ko-KR" altLang="en-US" sz="1050" kern="1200">
                <a:latin typeface="Trebuchet MS" panose="020B0603020202020204" pitchFamily="34" charset="0"/>
              </a:rPr>
              <a:t>문의하기 구현</a:t>
            </a:r>
          </a:p>
          <a:p>
            <a:pPr marL="149940" indent="-149940" defTabSz="342900">
              <a:lnSpc>
                <a:spcPct val="200000"/>
              </a:lnSpc>
              <a:buFont typeface="Arial"/>
              <a:buChar char="•"/>
              <a:defRPr/>
            </a:pPr>
            <a:r>
              <a:rPr lang="ko-KR" altLang="en-US" sz="1050" kern="1200">
                <a:latin typeface="Trebuchet MS" panose="020B0603020202020204" pitchFamily="34" charset="0"/>
              </a:rPr>
              <a:t>마이페이지 및 관리자 페이지 구현</a:t>
            </a:r>
          </a:p>
          <a:p>
            <a:pPr marL="149940" indent="-149940" defTabSz="342900">
              <a:lnSpc>
                <a:spcPct val="200000"/>
              </a:lnSpc>
              <a:buFont typeface="Arial"/>
              <a:buChar char="•"/>
              <a:defRPr/>
            </a:pPr>
            <a:endParaRPr lang="ko-KR" altLang="en-US" sz="1050" kern="1200">
              <a:latin typeface="Trebuchet MS" panose="020B0603020202020204" pitchFamily="34" charset="0"/>
            </a:endParaRPr>
          </a:p>
          <a:p>
            <a:pPr marL="149940" indent="-149940" defTabSz="342900">
              <a:lnSpc>
                <a:spcPct val="200000"/>
              </a:lnSpc>
              <a:buFont typeface="Arial"/>
              <a:buChar char="•"/>
              <a:defRPr/>
            </a:pPr>
            <a:endParaRPr lang="ko-KR" altLang="en-US" sz="1050" kern="1200">
              <a:latin typeface="Trebuchet MS" panose="020B0603020202020204" pitchFamily="34" charset="0"/>
            </a:endParaRPr>
          </a:p>
        </p:txBody>
      </p:sp>
      <p:sp>
        <p:nvSpPr>
          <p:cNvPr id="62" name="TextBox 27"/>
          <p:cNvSpPr txBox="1"/>
          <p:nvPr/>
        </p:nvSpPr>
        <p:spPr>
          <a:xfrm>
            <a:off x="4842030" y="2913534"/>
            <a:ext cx="902723" cy="230832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342900">
              <a:spcBef>
                <a:spcPct val="0"/>
              </a:spcBef>
              <a:defRPr/>
            </a:pPr>
            <a:r>
              <a:rPr lang="ko-KR" altLang="en-US" sz="1500" b="1" kern="1200">
                <a:latin typeface="Trebuchet MS" panose="020B0603020202020204" pitchFamily="34" charset="0"/>
                <a:ea typeface="맑은 고딕"/>
              </a:rPr>
              <a:t>구현  </a:t>
            </a:r>
          </a:p>
        </p:txBody>
      </p:sp>
      <p:cxnSp>
        <p:nvCxnSpPr>
          <p:cNvPr id="28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1525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기능별 취약점 구성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545" y="1239559"/>
            <a:ext cx="500825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lvl="0">
              <a:defRPr/>
            </a:pPr>
            <a:r>
              <a:rPr lang="en-US" altLang="ko-KR" sz="1500" b="1">
                <a:latin typeface="Trebuchet MS" panose="020B0603020202020204" pitchFamily="34" charset="0"/>
                <a:ea typeface="맑은 고딕"/>
              </a:rPr>
              <a:t>1</a:t>
            </a:r>
            <a:endParaRPr lang="ko-KR" altLang="en-US" sz="1500" b="1">
              <a:latin typeface="Trebuchet MS" panose="020B0603020202020204" pitchFamily="34" charset="0"/>
              <a:ea typeface="맑은 고딕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88981" y="1221600"/>
            <a:ext cx="6900169" cy="2423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05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  <a:ea typeface="맑은 고딕"/>
              </a:rPr>
              <a:t>입력 지점과 주요 취약점 및 조건</a:t>
            </a:r>
          </a:p>
        </p:txBody>
      </p:sp>
      <p:graphicFrame>
        <p:nvGraphicFramePr>
          <p:cNvPr id="30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842100"/>
              </p:ext>
            </p:extLst>
          </p:nvPr>
        </p:nvGraphicFramePr>
        <p:xfrm>
          <a:off x="465998" y="1558340"/>
          <a:ext cx="8211105" cy="33382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8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9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527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기능 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주요 취약점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구현한 취약 조건</a:t>
                      </a:r>
                      <a:endParaRPr lang="en-US" altLang="ko-KR" sz="11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학습게시판 검색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SQL injection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Clr>
                          <a:schemeClr val="tx1">
                            <a:alpha val="80000"/>
                          </a:schemeClr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content를 SQL 문자열에 직접 연결하고, </a:t>
                      </a:r>
                      <a:r>
                        <a:rPr lang="ko-KR" altLang="en-US" sz="1100" b="1">
                          <a:solidFill>
                            <a:schemeClr val="tx1"/>
                          </a:solidFill>
                          <a:effectLst/>
                          <a:latin typeface="Trebuchet MS"/>
                        </a:rPr>
                        <a:t>unsafe_query()에서 파라미터 바인딩</a:t>
                      </a:r>
                      <a:r>
                        <a:rPr lang="ko-KR" altLang="en-US" sz="1100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 없이 실행. DB 오류 내용을 화면에 표시.</a:t>
                      </a:r>
                      <a:endParaRPr lang="en-US" altLang="ko-KR" sz="1100">
                        <a:solidFill>
                          <a:schemeClr val="tx1">
                            <a:alpha val="80000"/>
                          </a:schemeClr>
                        </a:solidFill>
                        <a:effectLst/>
                        <a:latin typeface="Trebuchet MS"/>
                      </a:endParaRP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2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로그인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XSS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buClr>
                          <a:schemeClr val="tx1">
                            <a:alpha val="80000"/>
                          </a:schemeClr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로그인 실패 메시지에 입력한 아이디를 포함하고, 템플릿에서 </a:t>
                      </a:r>
                      <a:r>
                        <a:rPr lang="ko-KR" altLang="en-US" sz="1100" b="1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message에 safe 필터를 적용</a:t>
                      </a:r>
                      <a:r>
                        <a:rPr lang="ko-KR" altLang="en-US" sz="1100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해 출력. 로그인 화면의 CSP에도 unsafe-inline을 설정해 인라인 스크립트 실행 허용.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2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외부 콘텐츠 등록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SSRF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입력 URL의 HTTP·HTTPS 여부와 호스트 존재만 확인한 뒤 urlopen()으로 서버가 요청. </a:t>
                      </a:r>
                      <a:r>
                        <a:rPr lang="en-US" altLang="ko-KR" sz="1100" b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대상 호스트·IP 대역 검증을 생략</a:t>
                      </a: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하고, HTML에서 추출</a:t>
                      </a:r>
                      <a:r>
                        <a:rPr lang="ko-KR" altLang="en-US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을 위해 </a:t>
                      </a: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서버가 추가 요청.</a:t>
                      </a:r>
                    </a:p>
                  </a:txBody>
                  <a:tcPr marL="68580" marR="68580" marT="34290" marB="3429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파일 제출·첨부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확장자 검증 우회</a:t>
                      </a: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,</a:t>
                      </a:r>
                      <a:r>
                        <a:rPr lang="ko-KR" altLang="en-US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코드 실행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파일의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마지막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확장자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대신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파일명에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1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허용</a:t>
                      </a:r>
                      <a:r>
                        <a:rPr lang="en-US" altLang="ko-KR" sz="1100" b="1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1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확장자</a:t>
                      </a:r>
                      <a:r>
                        <a:rPr lang="en-US" altLang="ko-KR" sz="1100" b="1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1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문자열이</a:t>
                      </a:r>
                      <a:r>
                        <a:rPr lang="en-US" altLang="ko-KR" sz="1100" b="1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1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포함되는지만</a:t>
                      </a:r>
                      <a:r>
                        <a:rPr lang="en-US" altLang="ko-KR" sz="1100" b="1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1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검사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.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저장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경로는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전체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업로드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내부인지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확인하고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,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사용자별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디렉터리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경계는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검사하지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않음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.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nginx에서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실행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확장자의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업로드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파일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요청을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runner로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전달하도록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설정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.</a:t>
                      </a:r>
                    </a:p>
                  </a:txBody>
                  <a:tcPr marL="68580" marR="68580" marT="34290" marB="3429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pic>
        <p:nvPicPr>
          <p:cNvPr id="29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7681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기능별 취약점 구성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545" y="1239559"/>
            <a:ext cx="500825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lvl="0">
              <a:defRPr/>
            </a:pPr>
            <a:r>
              <a:rPr lang="en-US" altLang="ko-KR" sz="1500" b="1">
                <a:latin typeface="Trebuchet MS" panose="020B0603020202020204" pitchFamily="34" charset="0"/>
                <a:ea typeface="맑은 고딕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981" y="1221600"/>
            <a:ext cx="6900169" cy="2423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05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  <a:ea typeface="맑은 고딕"/>
              </a:rPr>
              <a:t>입력 지점과 주요 취약점 및 조건</a:t>
            </a:r>
          </a:p>
        </p:txBody>
      </p:sp>
      <p:graphicFrame>
        <p:nvGraphicFramePr>
          <p:cNvPr id="30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489439"/>
              </p:ext>
            </p:extLst>
          </p:nvPr>
        </p:nvGraphicFramePr>
        <p:xfrm>
          <a:off x="465998" y="1558341"/>
          <a:ext cx="8212032" cy="31075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8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9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527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기능 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주요 취약점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구현한 취약 조건</a:t>
                      </a:r>
                      <a:endParaRPr lang="en-US" altLang="ko-KR" sz="11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프로필 조회·수정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IDOR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Clr>
                          <a:schemeClr val="tx1">
                            <a:alpha val="80000"/>
                          </a:schemeClr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g.user로 로그인 여부만 확인하고, </a:t>
                      </a:r>
                      <a:r>
                        <a:rPr lang="ko-KR" altLang="en-US" sz="1100" b="1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요청자의 ID와 경로의 user_id를 비교하지 않음.</a:t>
                      </a:r>
                      <a:r>
                        <a:rPr lang="ko-KR" altLang="en-US" sz="1100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 전달받은 user_id를 기준으로 프로필 조회와 수정 처리.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2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비밀 문의 조회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권한 검증 우회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buClr>
                          <a:schemeClr val="tx1">
                            <a:alpha val="80000"/>
                          </a:schemeClr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비밀글 소유권 검사를 </a:t>
                      </a:r>
                      <a:r>
                        <a:rPr lang="ko-KR" altLang="en-US" sz="1100" b="1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secret query 파라미터의 존재 조건에 연동</a:t>
                      </a:r>
                      <a:r>
                        <a:rPr lang="ko-KR" altLang="en-US" sz="1100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. 권한 검사 수행 여부가 클라이언트가 전달하는 URL 파라미터에 의존하도록 구현.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업로드 목록·파일 접근등록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디렉터리 인덱싱 · 파일 접근 권한 누락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nginx의 /uploads/에 alias /data/uploads/와 </a:t>
                      </a:r>
                      <a:r>
                        <a:rPr lang="en-US" altLang="ko-KR" sz="1100" b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autoindex on 설정.</a:t>
                      </a: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별도 인증 검사 없이 목록과 파일을 직접 제공해 Flask의 다운로드 권한 검사를 거치지 않도록 구성.</a:t>
                      </a:r>
                    </a:p>
                  </a:txBody>
                  <a:tcPr marL="68580" marR="68580" marT="34290" marB="3429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33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관리자 페이지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인증·인가 누락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admin_dashboard()에 로그인 검사 데코레이터와 관리자 역할 검사를 적용하지 않은 상태로 /admin에 등록. 사용자·문의·업로드 정보를 반환하도록 구현.</a:t>
                      </a:r>
                    </a:p>
                  </a:txBody>
                  <a:tcPr marL="68580" marR="68580" marT="34290" marB="3429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pic>
        <p:nvPicPr>
          <p:cNvPr id="29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159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2700" b="1">
                <a:latin typeface="Trebuchet MS" panose="020B0603020202020204" pitchFamily="34" charset="0"/>
                <a:ea typeface="맑은 고딕"/>
              </a:rPr>
              <a:t>SQLI·XSS </a:t>
            </a: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구현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550" y="1114007"/>
            <a:ext cx="672097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lvl="0">
              <a:defRPr/>
            </a:pPr>
            <a:r>
              <a:rPr lang="en-US" altLang="ko-KR" sz="1500" b="1">
                <a:latin typeface="Trebuchet MS" panose="020B0603020202020204" pitchFamily="34" charset="0"/>
                <a:ea typeface="맑은 고딕"/>
              </a:rPr>
              <a:t>SQLI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ko-KR" altLang="en-US" sz="105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497526" y="3030620"/>
            <a:ext cx="672097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lvl="0">
              <a:defRPr/>
            </a:pPr>
            <a:r>
              <a:rPr lang="en-US" altLang="ko-KR" sz="1500" b="1">
                <a:latin typeface="Trebuchet MS" panose="020B0603020202020204" pitchFamily="34" charset="0"/>
                <a:ea typeface="맑은 고딕"/>
              </a:rPr>
              <a:t>XSS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4477" y="2962548"/>
            <a:ext cx="4709692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sz="1050" b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  <a:ea typeface="맑은 고딕"/>
              </a:rPr>
              <a:t>로그인 입력값이 응답 화면에 반영된 화면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24356" y="1059582"/>
            <a:ext cx="4873114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sz="1050" b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  <a:ea typeface="맑은 고딕"/>
              </a:rPr>
              <a:t>학습게시판 검색 및 오류 응답 화면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pic>
        <p:nvPicPr>
          <p:cNvPr id="38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896815" y="1491630"/>
            <a:ext cx="5350370" cy="1192299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52" name="그림 5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770784" y="3327439"/>
            <a:ext cx="1571421" cy="1315403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78496" y="3855868"/>
            <a:ext cx="2000529" cy="192908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979148" y="3724740"/>
            <a:ext cx="1086002" cy="435830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57" name="TextBox 56"/>
          <p:cNvSpPr txBox="1"/>
          <p:nvPr/>
        </p:nvSpPr>
        <p:spPr>
          <a:xfrm>
            <a:off x="1538790" y="4677984"/>
            <a:ext cx="1313892" cy="180882"/>
          </a:xfrm>
          <a:prstGeom prst="rect">
            <a:avLst/>
          </a:prstGeom>
        </p:spPr>
        <p:txBody>
          <a:bodyPr wrap="none"/>
          <a:lstStyle/>
          <a:p>
            <a:pPr algn="ctr" defTabSz="342900">
              <a:spcBef>
                <a:spcPct val="0"/>
              </a:spcBef>
              <a:defRPr/>
            </a:pPr>
            <a:r>
              <a:rPr lang="en-US" altLang="ko-KR" sz="788" kern="1200">
                <a:latin typeface="Trebuchet MS" panose="020B0603020202020204" pitchFamily="34" charset="0"/>
              </a:rPr>
              <a:t>&lt;</a:t>
            </a:r>
            <a:r>
              <a:rPr lang="ko-KR" altLang="en-US" sz="788" kern="1200">
                <a:latin typeface="Trebuchet MS" panose="020B0603020202020204" pitchFamily="34" charset="0"/>
              </a:rPr>
              <a:t>로그인 실패시 에러 메시지</a:t>
            </a:r>
            <a:r>
              <a:rPr lang="en-US" altLang="ko-KR" sz="788" kern="1200">
                <a:latin typeface="Trebuchet MS" panose="020B0603020202020204" pitchFamily="34" charset="0"/>
              </a:rPr>
              <a:t>&gt;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5054" y="4677984"/>
            <a:ext cx="1313892" cy="180882"/>
          </a:xfrm>
          <a:prstGeom prst="rect">
            <a:avLst/>
          </a:prstGeom>
        </p:spPr>
        <p:txBody>
          <a:bodyPr wrap="none"/>
          <a:lstStyle/>
          <a:p>
            <a:pPr algn="ctr" defTabSz="342900">
              <a:spcBef>
                <a:spcPct val="0"/>
              </a:spcBef>
              <a:defRPr/>
            </a:pPr>
            <a:r>
              <a:rPr lang="en-US" altLang="ko-KR" sz="788" kern="1200">
                <a:latin typeface="Trebuchet MS" panose="020B0603020202020204" pitchFamily="34" charset="0"/>
              </a:rPr>
              <a:t>&lt;</a:t>
            </a:r>
            <a:r>
              <a:rPr lang="ko-KR" altLang="en-US" sz="788" kern="1200">
                <a:latin typeface="Trebuchet MS" panose="020B0603020202020204" pitchFamily="34" charset="0"/>
              </a:rPr>
              <a:t>스크립트 삽입</a:t>
            </a:r>
            <a:r>
              <a:rPr lang="en-US" altLang="ko-KR" sz="788" kern="1200">
                <a:latin typeface="Trebuchet MS" panose="020B0603020202020204" pitchFamily="34" charset="0"/>
              </a:rPr>
              <a:t>&gt;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13276" y="4677984"/>
            <a:ext cx="1313892" cy="180882"/>
          </a:xfrm>
          <a:prstGeom prst="rect">
            <a:avLst/>
          </a:prstGeom>
        </p:spPr>
        <p:txBody>
          <a:bodyPr wrap="none"/>
          <a:lstStyle/>
          <a:p>
            <a:pPr algn="ctr" defTabSz="342900">
              <a:spcBef>
                <a:spcPct val="0"/>
              </a:spcBef>
              <a:defRPr/>
            </a:pPr>
            <a:r>
              <a:rPr lang="en-US" altLang="ko-KR" sz="788" kern="1200">
                <a:latin typeface="Trebuchet MS" panose="020B0603020202020204" pitchFamily="34" charset="0"/>
              </a:rPr>
              <a:t>&lt;</a:t>
            </a:r>
            <a:r>
              <a:rPr lang="ko-KR" altLang="en-US" sz="788" kern="1200">
                <a:latin typeface="Trebuchet MS" panose="020B0603020202020204" pitchFamily="34" charset="0"/>
              </a:rPr>
              <a:t>스크립트 실행</a:t>
            </a:r>
            <a:r>
              <a:rPr lang="en-US" altLang="ko-KR" sz="788" kern="1200">
                <a:latin typeface="Trebuchet MS" panose="020B0603020202020204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77892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2700" b="1">
                <a:latin typeface="Trebuchet MS" panose="020B0603020202020204" pitchFamily="34" charset="0"/>
                <a:ea typeface="맑은 고딕"/>
              </a:rPr>
              <a:t>SSRF·IDOR </a:t>
            </a: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구현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38" y="1059582"/>
            <a:ext cx="672097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lvl="0">
              <a:defRPr/>
            </a:pPr>
            <a:r>
              <a:rPr lang="en-US" altLang="ko-KR" sz="1500" b="1">
                <a:latin typeface="Trebuchet MS" panose="020B0603020202020204" pitchFamily="34" charset="0"/>
                <a:ea typeface="맑은 고딕"/>
              </a:rPr>
              <a:t>SSRF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ko-KR" altLang="en-US" sz="105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467544" y="3030620"/>
            <a:ext cx="672097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lvl="0">
              <a:defRPr/>
            </a:pPr>
            <a:r>
              <a:rPr lang="en-US" altLang="ko-KR" sz="1500" b="1">
                <a:latin typeface="Trebuchet MS" panose="020B0603020202020204" pitchFamily="34" charset="0"/>
                <a:ea typeface="맑은 고딕"/>
              </a:rPr>
              <a:t>IDOR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36495" y="2962548"/>
            <a:ext cx="1955386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sz="1050" b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  <a:ea typeface="맑은 고딕"/>
              </a:rPr>
              <a:t>사용자별 프로필 조회 화면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05527" y="4757578"/>
            <a:ext cx="1360240" cy="45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788">
                <a:latin typeface="Trebuchet MS" panose="020B0603020202020204" pitchFamily="34" charset="0"/>
              </a:rPr>
              <a:t>mypage/my-information/2</a:t>
            </a:r>
          </a:p>
          <a:p>
            <a:pPr lvl="0" algn="ctr">
              <a:defRPr/>
            </a:pPr>
            <a:r>
              <a:rPr lang="ko-KR" altLang="en-US" sz="788">
                <a:latin typeface="Trebuchet MS" panose="020B0603020202020204" pitchFamily="34" charset="0"/>
              </a:rPr>
              <a:t>일반 계정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5059" y="1005576"/>
            <a:ext cx="4873115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sz="1050" b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  <a:ea typeface="맑은 고딕"/>
              </a:rPr>
              <a:t>외부 콘텐츠 URL 입력 및 응답 결과 화면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pic>
        <p:nvPicPr>
          <p:cNvPr id="38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4"/>
          <a:srcRect b="2910"/>
          <a:stretch>
            <a:fillRect/>
          </a:stretch>
        </p:blipFill>
        <p:spPr>
          <a:xfrm>
            <a:off x="1385646" y="1413414"/>
            <a:ext cx="2710319" cy="1404156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58" name="직사각형 24"/>
          <p:cNvSpPr/>
          <p:nvPr/>
        </p:nvSpPr>
        <p:spPr>
          <a:xfrm>
            <a:off x="3545886" y="2115492"/>
            <a:ext cx="486054" cy="216024"/>
          </a:xfrm>
          <a:prstGeom prst="rect">
            <a:avLst/>
          </a:prstGeom>
          <a:noFill/>
          <a:ln w="28575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lIns="0" tIns="0" rIns="0" bIns="0" anchor="ctr"/>
          <a:lstStyle/>
          <a:p>
            <a:pPr algn="ctr" defTabSz="342900">
              <a:spcBef>
                <a:spcPct val="0"/>
              </a:spcBef>
              <a:defRPr/>
            </a:pPr>
            <a:endParaRPr lang="ko-KR" altLang="en-US" sz="1350" kern="1200">
              <a:latin typeface="Trebuchet MS" panose="020B0603020202020204" pitchFamily="34" charset="0"/>
              <a:ea typeface="맑은 고딕"/>
              <a:cs typeface="맑은 고딕"/>
            </a:endParaRPr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652121" y="3399054"/>
            <a:ext cx="2294435" cy="1162799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60" name="그림 5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97515" y="3381841"/>
            <a:ext cx="1567415" cy="1350149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61" name="그림 6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888397" y="3381840"/>
            <a:ext cx="1552358" cy="1350150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62" name="TextBox 61"/>
          <p:cNvSpPr txBox="1"/>
          <p:nvPr/>
        </p:nvSpPr>
        <p:spPr>
          <a:xfrm>
            <a:off x="2982593" y="4731990"/>
            <a:ext cx="1313892" cy="180882"/>
          </a:xfrm>
          <a:prstGeom prst="rect">
            <a:avLst/>
          </a:prstGeom>
        </p:spPr>
        <p:txBody>
          <a:bodyPr wrap="none"/>
          <a:lstStyle/>
          <a:p>
            <a:pPr lvl="0" algn="ctr">
              <a:defRPr/>
            </a:pPr>
            <a:r>
              <a:rPr lang="en-US" altLang="ko-KR" sz="788">
                <a:latin typeface="Trebuchet MS" panose="020B0603020202020204" pitchFamily="34" charset="0"/>
              </a:rPr>
              <a:t>mypage/my-information/1</a:t>
            </a:r>
          </a:p>
          <a:p>
            <a:pPr lvl="0" algn="ctr">
              <a:defRPr/>
            </a:pPr>
            <a:r>
              <a:rPr lang="en-US" altLang="ko-KR" sz="788">
                <a:latin typeface="Trebuchet MS" panose="020B0603020202020204" pitchFamily="34" charset="0"/>
              </a:rPr>
              <a:t>admin </a:t>
            </a:r>
            <a:r>
              <a:rPr lang="ko-KR" altLang="en-US" sz="788">
                <a:latin typeface="Trebuchet MS" panose="020B0603020202020204" pitchFamily="34" charset="0"/>
              </a:rPr>
              <a:t>계정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28438" y="4568321"/>
            <a:ext cx="1313892" cy="180882"/>
          </a:xfrm>
          <a:prstGeom prst="rect">
            <a:avLst/>
          </a:prstGeom>
        </p:spPr>
        <p:txBody>
          <a:bodyPr wrap="none"/>
          <a:lstStyle/>
          <a:p>
            <a:pPr algn="ctr" defTabSz="342900">
              <a:spcBef>
                <a:spcPct val="0"/>
              </a:spcBef>
              <a:defRPr/>
            </a:pPr>
            <a:r>
              <a:rPr lang="en-US" altLang="ko-KR" sz="788" kern="1200">
                <a:latin typeface="Trebuchet MS" panose="020B0603020202020204" pitchFamily="34" charset="0"/>
              </a:rPr>
              <a:t>/admin</a:t>
            </a:r>
            <a:endParaRPr lang="ko-KR" altLang="en-US" sz="788" kern="1200">
              <a:latin typeface="Trebuchet MS" panose="020B0603020202020204" pitchFamily="34" charset="0"/>
            </a:endParaRPr>
          </a:p>
        </p:txBody>
      </p:sp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8"/>
          <a:srcRect b="7000"/>
          <a:stretch>
            <a:fillRect/>
          </a:stretch>
        </p:blipFill>
        <p:spPr>
          <a:xfrm>
            <a:off x="4572000" y="1383618"/>
            <a:ext cx="3726414" cy="1433952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69" name="TextBox 42"/>
          <p:cNvSpPr txBox="1"/>
          <p:nvPr/>
        </p:nvSpPr>
        <p:spPr>
          <a:xfrm>
            <a:off x="5122134" y="3056876"/>
            <a:ext cx="672097" cy="230832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342900">
              <a:spcBef>
                <a:spcPct val="0"/>
              </a:spcBef>
              <a:defRPr/>
            </a:pPr>
            <a:r>
              <a:rPr lang="en-US" altLang="ko-KR" sz="1500" b="1" kern="1200">
                <a:latin typeface="Trebuchet MS" panose="020B0603020202020204" pitchFamily="34" charset="0"/>
                <a:ea typeface="맑은 고딕"/>
              </a:rPr>
              <a:t>admin</a:t>
            </a:r>
          </a:p>
        </p:txBody>
      </p:sp>
      <p:sp>
        <p:nvSpPr>
          <p:cNvPr id="71" name="직사각형 24"/>
          <p:cNvSpPr/>
          <p:nvPr/>
        </p:nvSpPr>
        <p:spPr>
          <a:xfrm>
            <a:off x="4788024" y="2277510"/>
            <a:ext cx="972108" cy="216024"/>
          </a:xfrm>
          <a:prstGeom prst="rect">
            <a:avLst/>
          </a:prstGeom>
          <a:noFill/>
          <a:ln w="28575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lIns="0" tIns="0" rIns="0" bIns="0" anchor="ctr"/>
          <a:lstStyle/>
          <a:p>
            <a:pPr algn="ctr" defTabSz="342900">
              <a:spcBef>
                <a:spcPct val="0"/>
              </a:spcBef>
              <a:defRPr/>
            </a:pPr>
            <a:endParaRPr lang="ko-KR" altLang="en-US" sz="1350" kern="1200">
              <a:latin typeface="Trebuchet MS" panose="020B0603020202020204" pitchFamily="34" charset="0"/>
              <a:ea typeface="맑은 고딕"/>
              <a:cs typeface="맑은 고딕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598114" y="2798706"/>
            <a:ext cx="1728192" cy="180882"/>
          </a:xfrm>
          <a:prstGeom prst="rect">
            <a:avLst/>
          </a:prstGeom>
        </p:spPr>
        <p:txBody>
          <a:bodyPr wrap="none"/>
          <a:lstStyle/>
          <a:p>
            <a:pPr algn="ctr" defTabSz="342900">
              <a:spcBef>
                <a:spcPct val="0"/>
              </a:spcBef>
              <a:defRPr/>
            </a:pPr>
            <a:r>
              <a:rPr lang="en-US" altLang="ko-KR" sz="788" kern="1200">
                <a:latin typeface="Trebuchet MS" panose="020B0603020202020204" pitchFamily="34" charset="0"/>
              </a:rPr>
              <a:t>internal-service:9000/ssrf-proof.svg</a:t>
            </a:r>
          </a:p>
        </p:txBody>
      </p:sp>
      <p:sp>
        <p:nvSpPr>
          <p:cNvPr id="75" name="TextBox 48"/>
          <p:cNvSpPr txBox="1"/>
          <p:nvPr/>
        </p:nvSpPr>
        <p:spPr>
          <a:xfrm>
            <a:off x="5910981" y="3003798"/>
            <a:ext cx="1955386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ko-KR" altLang="en-US" sz="1050" b="1" kern="1200">
                <a:latin typeface="Trebuchet MS" panose="020B0603020202020204" pitchFamily="34" charset="0"/>
                <a:ea typeface="맑은 고딕"/>
              </a:rPr>
              <a:t>관리자 페이지 노출</a:t>
            </a:r>
          </a:p>
        </p:txBody>
      </p:sp>
    </p:spTree>
    <p:extLst>
      <p:ext uri="{BB962C8B-B14F-4D97-AF65-F5344CB8AC3E}">
        <p14:creationId xmlns:p14="http://schemas.microsoft.com/office/powerpoint/2010/main" val="246690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2" name="Google Shape;572;p15"/>
          <p:cNvCxnSpPr/>
          <p:nvPr/>
        </p:nvCxnSpPr>
        <p:spPr>
          <a:xfrm>
            <a:off x="270030" y="268002"/>
            <a:ext cx="462529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3" name="Google Shape;573;p15"/>
          <p:cNvCxnSpPr/>
          <p:nvPr/>
        </p:nvCxnSpPr>
        <p:spPr>
          <a:xfrm rot="5400000">
            <a:off x="-476799" y="1014831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74" name="Google Shape;574;p1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575" name="Google Shape;575;p15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6" name="Google Shape;576;p15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577" name="Google Shape;577;p15"/>
          <p:cNvCxnSpPr/>
          <p:nvPr/>
        </p:nvCxnSpPr>
        <p:spPr>
          <a:xfrm rot="-5400000">
            <a:off x="-476800" y="4128669"/>
            <a:ext cx="149366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8" name="Google Shape;578;p15"/>
          <p:cNvCxnSpPr/>
          <p:nvPr/>
        </p:nvCxnSpPr>
        <p:spPr>
          <a:xfrm>
            <a:off x="3825171" y="4875499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79" name="Google Shape;579;p15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580" name="Google Shape;580;p15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1" name="Google Shape;581;p15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82" name="Google Shape;582;p15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583" name="Google Shape;583;p15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4" name="Google Shape;584;p15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85" name="Google Shape;585;p15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586" name="Google Shape;586;p15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7" name="Google Shape;587;p15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88" name="Google Shape;588;p15"/>
          <p:cNvSpPr txBox="1"/>
          <p:nvPr/>
        </p:nvSpPr>
        <p:spPr>
          <a:xfrm>
            <a:off x="851838" y="2365259"/>
            <a:ext cx="74730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Sink Finder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76379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취약 엔드포인트 탐색</a:t>
            </a:r>
            <a:r>
              <a:rPr lang="en-US" altLang="ko-KR" sz="2700" b="1">
                <a:latin typeface="Trebuchet MS" panose="020B0603020202020204" pitchFamily="34" charset="0"/>
                <a:ea typeface="맑은 고딕"/>
              </a:rPr>
              <a:t>: Sink finder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ko-KR" altLang="en-US" sz="105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직선 연결선 40"/>
          <p:cNvCxnSpPr/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pic>
        <p:nvPicPr>
          <p:cNvPr id="38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sp>
        <p:nvSpPr>
          <p:cNvPr id="47" name="TextBox 27"/>
          <p:cNvSpPr txBox="1"/>
          <p:nvPr/>
        </p:nvSpPr>
        <p:spPr>
          <a:xfrm>
            <a:off x="536844" y="1491668"/>
            <a:ext cx="794796" cy="230832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342900">
              <a:spcBef>
                <a:spcPct val="0"/>
              </a:spcBef>
              <a:defRPr/>
            </a:pPr>
            <a:r>
              <a:rPr lang="ko-KR" altLang="en-US" sz="1500" b="1" kern="1200">
                <a:latin typeface="Trebuchet MS" panose="020B0603020202020204" pitchFamily="34" charset="0"/>
                <a:ea typeface="맑은 고딕"/>
              </a:rPr>
              <a:t>Sink</a:t>
            </a:r>
            <a:r>
              <a:rPr lang="en-US" altLang="ko-KR" sz="1500" b="1" kern="1200">
                <a:latin typeface="Trebuchet MS" panose="020B0603020202020204" pitchFamily="34" charset="0"/>
                <a:ea typeface="맑은 고딕"/>
              </a:rPr>
              <a:t>?</a:t>
            </a:r>
          </a:p>
        </p:txBody>
      </p:sp>
      <p:sp>
        <p:nvSpPr>
          <p:cNvPr id="50" name="TextBox 43"/>
          <p:cNvSpPr txBox="1"/>
          <p:nvPr/>
        </p:nvSpPr>
        <p:spPr>
          <a:xfrm>
            <a:off x="575556" y="1769391"/>
            <a:ext cx="7886679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1050" kern="1200">
                <a:latin typeface="Trebuchet MS" panose="020B0603020202020204" pitchFamily="34" charset="0"/>
                <a:ea typeface="맑은 고딕"/>
              </a:rPr>
              <a:t>사용자 입력값이 SQL, HTML, 서버 요청, 파일 처리 등에 사용되는 지점으로, 입력값 검증이 부족하면 취약점으로 이어질 수 있습니다.</a:t>
            </a:r>
            <a:endParaRPr lang="en-US" altLang="ko-KR" sz="900" kern="1200">
              <a:latin typeface="Trebuchet MS" panose="020B0603020202020204" pitchFamily="34" charset="0"/>
              <a:ea typeface="맑은 고딕"/>
            </a:endParaRP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endParaRPr lang="en-US" altLang="ko-KR" sz="900" kern="1200">
              <a:latin typeface="Trebuchet MS" panose="020B0603020202020204" pitchFamily="34" charset="0"/>
              <a:ea typeface="맑은 고딕"/>
            </a:endParaRPr>
          </a:p>
        </p:txBody>
      </p:sp>
      <p:graphicFrame>
        <p:nvGraphicFramePr>
          <p:cNvPr id="55" name="표 54"/>
          <p:cNvGraphicFramePr/>
          <p:nvPr>
            <p:extLst>
              <p:ext uri="{D42A27DB-BD31-4B8C-83A1-F6EECF244321}">
                <p14:modId xmlns:p14="http://schemas.microsoft.com/office/powerpoint/2010/main" val="1816377586"/>
              </p:ext>
            </p:extLst>
          </p:nvPr>
        </p:nvGraphicFramePr>
        <p:xfrm>
          <a:off x="1006717" y="2571750"/>
          <a:ext cx="1512759" cy="1944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6054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사용자 입력  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 검색어 content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 외부 URL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사용자·파일 ID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6" name="표 55"/>
          <p:cNvGraphicFramePr/>
          <p:nvPr>
            <p:extLst>
              <p:ext uri="{D42A27DB-BD31-4B8C-83A1-F6EECF244321}">
                <p14:modId xmlns:p14="http://schemas.microsoft.com/office/powerpoint/2010/main" val="3892745409"/>
              </p:ext>
            </p:extLst>
          </p:nvPr>
        </p:nvGraphicFramePr>
        <p:xfrm>
          <a:off x="3815621" y="2571750"/>
          <a:ext cx="1512759" cy="1944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6054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입력값 사용 지점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SQL 쿼리·HTML 응답 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서버 측 HTTP 요청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사용자·파일 조회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0" name="표 59"/>
          <p:cNvGraphicFramePr/>
          <p:nvPr>
            <p:extLst>
              <p:ext uri="{D42A27DB-BD31-4B8C-83A1-F6EECF244321}">
                <p14:modId xmlns:p14="http://schemas.microsoft.com/office/powerpoint/2010/main" val="1856617597"/>
              </p:ext>
            </p:extLst>
          </p:nvPr>
        </p:nvGraphicFramePr>
        <p:xfrm>
          <a:off x="6623342" y="2571750"/>
          <a:ext cx="1512759" cy="1944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6054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kumimoji="0" lang="ko-KR" altLang="en-US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취약점 후보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D9D9D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 defTabSz="457200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SQLi·XSS 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chemeClr val="lt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 defTabSz="457200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SSRF   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chemeClr val="lt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 defTabSz="457200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IDOR·접근통제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chemeClr val="lt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" name="오른쪽 화살표 62"/>
          <p:cNvSpPr/>
          <p:nvPr/>
        </p:nvSpPr>
        <p:spPr>
          <a:xfrm>
            <a:off x="3005826" y="3489852"/>
            <a:ext cx="432048" cy="32403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sz="105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65" name="오른쪽 화살표 64"/>
          <p:cNvSpPr/>
          <p:nvPr/>
        </p:nvSpPr>
        <p:spPr>
          <a:xfrm>
            <a:off x="5814138" y="3435846"/>
            <a:ext cx="432048" cy="3240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lIns="0" tIns="0" rIns="0" bIns="0" anchor="ctr"/>
          <a:lstStyle/>
          <a:p>
            <a:pPr algn="ctr" defTabSz="342900">
              <a:spcBef>
                <a:spcPct val="0"/>
              </a:spcBef>
              <a:defRPr/>
            </a:pPr>
            <a:endParaRPr sz="1350" kern="1200">
              <a:latin typeface="Trebuchet MS" panose="020B0603020202020204" pitchFamily="34" charset="0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9933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취약 엔드포인트 탐색</a:t>
            </a:r>
            <a:r>
              <a:rPr lang="en-US" altLang="ko-KR" sz="2700" b="1">
                <a:latin typeface="Trebuchet MS" panose="020B0603020202020204" pitchFamily="34" charset="0"/>
                <a:ea typeface="맑은 고딕"/>
              </a:rPr>
              <a:t>: Sink finder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ko-KR" altLang="en-US" sz="105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522815" y="4677984"/>
            <a:ext cx="4804520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788">
                <a:latin typeface="Trebuchet MS" panose="020B0603020202020204" pitchFamily="34" charset="0"/>
              </a:rPr>
              <a:t>* Sink Finder는 취약점</a:t>
            </a:r>
            <a:r>
              <a:rPr lang="ko-KR" altLang="en-US" sz="788">
                <a:latin typeface="Trebuchet MS" panose="020B0603020202020204" pitchFamily="34" charset="0"/>
              </a:rPr>
              <a:t>을</a:t>
            </a:r>
            <a:r>
              <a:rPr lang="en-US" altLang="ko-KR" sz="788">
                <a:latin typeface="Trebuchet MS" panose="020B0603020202020204" pitchFamily="34" charset="0"/>
              </a:rPr>
              <a:t> 확정하지 않고, 후속 스캐너가 검사할 엔드포인트와 입력 지점을 수집합니다.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pic>
        <p:nvPicPr>
          <p:cNvPr id="38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sp>
        <p:nvSpPr>
          <p:cNvPr id="51" name="TextBox 27"/>
          <p:cNvSpPr txBox="1"/>
          <p:nvPr/>
        </p:nvSpPr>
        <p:spPr>
          <a:xfrm>
            <a:off x="481034" y="1216321"/>
            <a:ext cx="1010820" cy="230832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342900">
              <a:spcBef>
                <a:spcPct val="0"/>
              </a:spcBef>
              <a:defRPr/>
            </a:pPr>
            <a:r>
              <a:rPr lang="ko-KR" altLang="en-US" sz="1500" b="1" kern="1200">
                <a:latin typeface="Trebuchet MS" panose="020B0603020202020204" pitchFamily="34" charset="0"/>
                <a:ea typeface="맑은 고딕"/>
              </a:rPr>
              <a:t>탐색 과정</a:t>
            </a:r>
          </a:p>
        </p:txBody>
      </p:sp>
      <p:sp>
        <p:nvSpPr>
          <p:cNvPr id="52" name="TextBox 43"/>
          <p:cNvSpPr txBox="1"/>
          <p:nvPr/>
        </p:nvSpPr>
        <p:spPr>
          <a:xfrm>
            <a:off x="519745" y="1487553"/>
            <a:ext cx="7886681" cy="16158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1050" kern="1200">
                <a:latin typeface="Trebuchet MS" panose="020B0603020202020204" pitchFamily="34" charset="0"/>
                <a:ea typeface="맑은 고딕"/>
              </a:rPr>
              <a:t>1.</a:t>
            </a:r>
            <a:r>
              <a:rPr lang="ko-KR" altLang="en-US" sz="1050" kern="1200">
                <a:latin typeface="Trebuchet MS" panose="020B0603020202020204" pitchFamily="34" charset="0"/>
                <a:ea typeface="맑은 고딕"/>
              </a:rPr>
              <a:t> </a:t>
            </a:r>
            <a:r>
              <a:rPr lang="en-US" altLang="ko-KR" sz="1050" kern="1200">
                <a:latin typeface="Trebuchet MS" panose="020B0603020202020204" pitchFamily="34" charset="0"/>
                <a:ea typeface="맑은 고딕"/>
              </a:rPr>
              <a:t>대상 URL 및 로그인 세션 입력</a:t>
            </a: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1050" kern="1200">
                <a:latin typeface="Trebuchet MS" panose="020B0603020202020204" pitchFamily="34" charset="0"/>
                <a:ea typeface="맑은 고딕"/>
              </a:rPr>
              <a:t>대상 사이트 주소와 세션 쿠키를 입력받아 로그인 상태의 페이지를 탐색</a:t>
            </a: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endParaRPr lang="en-US" altLang="ko-KR" sz="1050" kern="1200">
              <a:latin typeface="Trebuchet MS" panose="020B0603020202020204" pitchFamily="34" charset="0"/>
              <a:ea typeface="맑은 고딕"/>
            </a:endParaRP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endParaRPr lang="ko-KR" altLang="en-US" sz="1050" kern="1200">
              <a:latin typeface="Trebuchet MS" panose="020B0603020202020204" pitchFamily="34" charset="0"/>
              <a:ea typeface="맑은 고딕"/>
            </a:endParaRP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endParaRPr lang="ko-KR" altLang="en-US" sz="1050" kern="1200">
              <a:latin typeface="Trebuchet MS" panose="020B0603020202020204" pitchFamily="34" charset="0"/>
              <a:ea typeface="맑은 고딕"/>
            </a:endParaRPr>
          </a:p>
        </p:txBody>
      </p:sp>
      <p:sp>
        <p:nvSpPr>
          <p:cNvPr id="53" name="TextBox 43"/>
          <p:cNvSpPr txBox="1"/>
          <p:nvPr/>
        </p:nvSpPr>
        <p:spPr>
          <a:xfrm>
            <a:off x="517943" y="2251003"/>
            <a:ext cx="7886679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1050" kern="1200">
                <a:latin typeface="Trebuchet MS" panose="020B0603020202020204" pitchFamily="34" charset="0"/>
                <a:ea typeface="맑은 고딕"/>
              </a:rPr>
              <a:t>2.</a:t>
            </a:r>
            <a:r>
              <a:rPr lang="ko-KR" altLang="en-US" sz="1050" kern="1200">
                <a:latin typeface="Trebuchet MS" panose="020B0603020202020204" pitchFamily="34" charset="0"/>
                <a:ea typeface="맑은 고딕"/>
              </a:rPr>
              <a:t> </a:t>
            </a:r>
            <a:r>
              <a:rPr lang="en-US" altLang="ko-KR" sz="1050" kern="1200">
                <a:latin typeface="Trebuchet MS" panose="020B0603020202020204" pitchFamily="34" charset="0"/>
                <a:ea typeface="맑은 고딕"/>
              </a:rPr>
              <a:t>메인 페이지부터 동일 출처 링크 재귀 탐색</a:t>
            </a: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1050" kern="1200">
                <a:latin typeface="Trebuchet MS" panose="020B0603020202020204" pitchFamily="34" charset="0"/>
                <a:ea typeface="맑은 고딕"/>
              </a:rPr>
              <a:t>/에서 탐색을 시작하고, 발견된 링크를 큐에 추가해 같은 호스트의 페이지를 순차적 방문</a:t>
            </a:r>
            <a:endParaRPr lang="ko-KR" altLang="en-US" sz="1050" kern="1200">
              <a:latin typeface="Trebuchet MS" panose="020B0603020202020204" pitchFamily="34" charset="0"/>
              <a:ea typeface="맑은 고딕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65740" y="3020076"/>
            <a:ext cx="4572000" cy="577788"/>
          </a:xfrm>
          <a:prstGeom prst="rect">
            <a:avLst/>
          </a:prstGeom>
        </p:spPr>
        <p:txBody>
          <a:bodyPr wrap="none"/>
          <a:lstStyle/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1050" kern="1200">
                <a:latin typeface="Trebuchet MS" panose="020B0603020202020204" pitchFamily="34" charset="0"/>
                <a:ea typeface="맑은 고딕"/>
              </a:rPr>
              <a:t>3. </a:t>
            </a:r>
            <a:r>
              <a:rPr lang="ko-KR" altLang="en-US" sz="1050" kern="1200">
                <a:latin typeface="Trebuchet MS" panose="020B0603020202020204" pitchFamily="34" charset="0"/>
                <a:ea typeface="맑은 고딕"/>
              </a:rPr>
              <a:t>링크·폼·입력 필드·JavaScript 요청 정보 수집</a:t>
            </a: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ko-KR" altLang="en-US" sz="1050" kern="1200">
                <a:latin typeface="Trebuchet MS" panose="020B0603020202020204" pitchFamily="34" charset="0"/>
                <a:ea typeface="맑은 고딕"/>
              </a:rPr>
              <a:t>각 페이지에서 URL, HTTP Method, 파라미터, 입력 타입을 수집하고 취약점 유형 연결</a:t>
            </a: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endParaRPr sz="1350" kern="1200">
              <a:latin typeface="Trebuchet MS" panose="020B0603020202020204" pitchFamily="34" charset="0"/>
              <a:ea typeface="맑은 고딕"/>
              <a:cs typeface="맑은 고딕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67544" y="3776160"/>
            <a:ext cx="7020780" cy="577788"/>
          </a:xfrm>
          <a:prstGeom prst="rect">
            <a:avLst/>
          </a:prstGeom>
        </p:spPr>
        <p:txBody>
          <a:bodyPr wrap="none"/>
          <a:lstStyle/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1050" kern="1200" dirty="0">
                <a:latin typeface="Trebuchet MS" panose="020B0603020202020204" pitchFamily="34" charset="0"/>
                <a:ea typeface="맑은 고딕"/>
              </a:rPr>
              <a:t>4. </a:t>
            </a:r>
            <a:r>
              <a:rPr lang="ko-KR" altLang="en-US" sz="1050" kern="1200" dirty="0">
                <a:latin typeface="Trebuchet MS" panose="020B0603020202020204" pitchFamily="34" charset="0"/>
                <a:ea typeface="맑은 고딕"/>
              </a:rPr>
              <a:t>숨겨진 경로는 </a:t>
            </a:r>
            <a:r>
              <a:rPr lang="en-US" altLang="ko-KR" sz="1050" kern="1200" dirty="0">
                <a:latin typeface="Trebuchet MS" panose="020B0603020202020204" pitchFamily="34" charset="0"/>
                <a:ea typeface="맑은 고딕"/>
              </a:rPr>
              <a:t>Word List</a:t>
            </a:r>
            <a:r>
              <a:rPr lang="ko-KR" altLang="en-US" sz="1050" kern="1200" dirty="0">
                <a:latin typeface="Trebuchet MS" panose="020B0603020202020204" pitchFamily="34" charset="0"/>
                <a:ea typeface="맑은 고딕"/>
              </a:rPr>
              <a:t>를 이용해 추가 탐색</a:t>
            </a: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ko-KR" altLang="en-US" sz="1050" kern="1200" dirty="0">
                <a:latin typeface="Trebuchet MS" panose="020B0603020202020204" pitchFamily="34" charset="0"/>
                <a:ea typeface="맑은 고딕"/>
              </a:rPr>
              <a:t>페이지 링크에 노출되지 않는 /</a:t>
            </a:r>
            <a:r>
              <a:rPr lang="ko-KR" altLang="en-US" sz="1050" kern="1200" dirty="0" err="1">
                <a:latin typeface="Trebuchet MS" panose="020B0603020202020204" pitchFamily="34" charset="0"/>
                <a:ea typeface="맑은 고딕"/>
              </a:rPr>
              <a:t>admin</a:t>
            </a:r>
            <a:r>
              <a:rPr lang="ko-KR" altLang="en-US" sz="1050" kern="1200" dirty="0">
                <a:latin typeface="Trebuchet MS" panose="020B0603020202020204" pitchFamily="34" charset="0"/>
                <a:ea typeface="맑은 고딕"/>
              </a:rPr>
              <a:t>, /</a:t>
            </a:r>
            <a:r>
              <a:rPr lang="ko-KR" altLang="en-US" sz="1050" kern="1200" dirty="0" err="1">
                <a:latin typeface="Trebuchet MS" panose="020B0603020202020204" pitchFamily="34" charset="0"/>
                <a:ea typeface="맑은 고딕"/>
              </a:rPr>
              <a:t>uploads</a:t>
            </a:r>
            <a:r>
              <a:rPr lang="ko-KR" altLang="en-US" sz="1050" kern="1200" dirty="0">
                <a:latin typeface="Trebuchet MS" panose="020B0603020202020204" pitchFamily="34" charset="0"/>
                <a:ea typeface="맑은 고딕"/>
              </a:rPr>
              <a:t>/ 경로는 </a:t>
            </a:r>
            <a:r>
              <a:rPr lang="en-US" altLang="ko-KR" sz="1050" kern="1200" dirty="0">
                <a:latin typeface="Trebuchet MS" panose="020B0603020202020204" pitchFamily="34" charset="0"/>
                <a:ea typeface="맑은 고딕"/>
              </a:rPr>
              <a:t>Word List</a:t>
            </a:r>
            <a:r>
              <a:rPr lang="ko-KR" altLang="en-US" sz="1050" kern="1200" dirty="0">
                <a:latin typeface="Trebuchet MS" panose="020B0603020202020204" pitchFamily="34" charset="0"/>
                <a:ea typeface="맑은 고딕"/>
              </a:rPr>
              <a:t>에 등록해 응답 여부를 확인</a:t>
            </a: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endParaRPr sz="1350" kern="1200" dirty="0">
              <a:latin typeface="Trebuchet MS" panose="020B0603020202020204" pitchFamily="34" charset="0"/>
              <a:ea typeface="맑은 고딕"/>
              <a:cs typeface="맑은 고딕"/>
            </a:endParaRPr>
          </a:p>
        </p:txBody>
      </p:sp>
      <p:graphicFrame>
        <p:nvGraphicFramePr>
          <p:cNvPr id="58" name="표 57"/>
          <p:cNvGraphicFramePr/>
          <p:nvPr>
            <p:extLst>
              <p:ext uri="{D42A27DB-BD31-4B8C-83A1-F6EECF244321}">
                <p14:modId xmlns:p14="http://schemas.microsoft.com/office/powerpoint/2010/main" val="1703499040"/>
              </p:ext>
            </p:extLst>
          </p:nvPr>
        </p:nvGraphicFramePr>
        <p:xfrm>
          <a:off x="6569631" y="1209594"/>
          <a:ext cx="1728784" cy="552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067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대상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URL,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세션쿠키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3" name="직선 화살표 연결선 62"/>
          <p:cNvCxnSpPr>
            <a:stCxn id="58" idx="2"/>
            <a:endCxn id="64" idx="0"/>
          </p:cNvCxnSpPr>
          <p:nvPr/>
        </p:nvCxnSpPr>
        <p:spPr>
          <a:xfrm rot="16200000" flipH="1">
            <a:off x="7359017" y="1836665"/>
            <a:ext cx="15001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표 63"/>
          <p:cNvGraphicFramePr/>
          <p:nvPr>
            <p:extLst>
              <p:ext uri="{D42A27DB-BD31-4B8C-83A1-F6EECF244321}">
                <p14:modId xmlns:p14="http://schemas.microsoft.com/office/powerpoint/2010/main" val="3418262843"/>
              </p:ext>
            </p:extLst>
          </p:nvPr>
        </p:nvGraphicFramePr>
        <p:xfrm>
          <a:off x="6569631" y="1911672"/>
          <a:ext cx="1728784" cy="552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067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kumimoji="0" lang="en-US" altLang="ko-KR" sz="1100" b="1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Queue </a:t>
                      </a:r>
                      <a:r>
                        <a:rPr kumimoji="0" lang="ko-KR" altLang="en-US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기반 재귀 탐색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D9D9D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5" name="직선 화살표 연결선 64"/>
          <p:cNvCxnSpPr>
            <a:stCxn id="64" idx="2"/>
            <a:endCxn id="66" idx="0"/>
          </p:cNvCxnSpPr>
          <p:nvPr/>
        </p:nvCxnSpPr>
        <p:spPr>
          <a:xfrm rot="16200000" flipH="1">
            <a:off x="7353014" y="2544747"/>
            <a:ext cx="162018" cy="0"/>
          </a:xfrm>
          <a:prstGeom prst="straightConnector1">
            <a:avLst/>
          </a:prstGeom>
          <a:noFill/>
          <a:ln w="6350" cap="flat" cmpd="sng" algn="ctr">
            <a:solidFill>
              <a:srgbClr val="4472C4">
                <a:alpha val="100000"/>
              </a:srgbClr>
            </a:solidFill>
            <a:prstDash val="solid"/>
            <a:miter/>
            <a:tailEnd type="arrow"/>
          </a:ln>
        </p:spPr>
      </p:cxnSp>
      <p:graphicFrame>
        <p:nvGraphicFramePr>
          <p:cNvPr id="66" name="표 65"/>
          <p:cNvGraphicFramePr/>
          <p:nvPr>
            <p:extLst>
              <p:ext uri="{D42A27DB-BD31-4B8C-83A1-F6EECF244321}">
                <p14:modId xmlns:p14="http://schemas.microsoft.com/office/powerpoint/2010/main" val="1610654456"/>
              </p:ext>
            </p:extLst>
          </p:nvPr>
        </p:nvGraphicFramePr>
        <p:xfrm>
          <a:off x="6569631" y="2625756"/>
          <a:ext cx="1728784" cy="552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067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kumimoji="0" lang="ko-KR" altLang="en-US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링크</a:t>
                      </a:r>
                      <a:r>
                        <a:rPr kumimoji="0" lang="en-US" altLang="ko-KR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,</a:t>
                      </a:r>
                      <a:r>
                        <a:rPr kumimoji="0" lang="ko-KR" altLang="en-US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폼</a:t>
                      </a:r>
                      <a:r>
                        <a:rPr kumimoji="0" lang="en-US" altLang="ko-KR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,</a:t>
                      </a:r>
                      <a:r>
                        <a:rPr kumimoji="0" lang="ko-KR" altLang="en-US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입력필드 </a:t>
                      </a:r>
                      <a:br>
                        <a:rPr kumimoji="0" lang="en-US" altLang="ko-KR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kumimoji="0" lang="en-US" altLang="ko-KR" sz="1100" b="1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JavaScript</a:t>
                      </a:r>
                      <a:r>
                        <a:rPr kumimoji="0" lang="en-US" altLang="ko-KR" sz="110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kumimoji="0" lang="ko-KR" altLang="en-US" sz="110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수집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D9D9D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7" name="직선 화살표 연결선 66"/>
          <p:cNvCxnSpPr>
            <a:stCxn id="66" idx="2"/>
            <a:endCxn id="68" idx="0"/>
          </p:cNvCxnSpPr>
          <p:nvPr/>
        </p:nvCxnSpPr>
        <p:spPr>
          <a:xfrm rot="16200000" flipH="1">
            <a:off x="7359017" y="3252828"/>
            <a:ext cx="150011" cy="0"/>
          </a:xfrm>
          <a:prstGeom prst="straightConnector1">
            <a:avLst/>
          </a:prstGeom>
          <a:noFill/>
          <a:ln w="6350" cap="flat" cmpd="sng" algn="ctr">
            <a:solidFill>
              <a:srgbClr val="4472C4">
                <a:alpha val="100000"/>
              </a:srgbClr>
            </a:solidFill>
            <a:prstDash val="solid"/>
            <a:miter/>
            <a:tailEnd type="arrow"/>
          </a:ln>
        </p:spPr>
      </p:cxnSp>
      <p:graphicFrame>
        <p:nvGraphicFramePr>
          <p:cNvPr id="68" name="표 67"/>
          <p:cNvGraphicFramePr/>
          <p:nvPr>
            <p:extLst>
              <p:ext uri="{D42A27DB-BD31-4B8C-83A1-F6EECF244321}">
                <p14:modId xmlns:p14="http://schemas.microsoft.com/office/powerpoint/2010/main" val="1946808691"/>
              </p:ext>
            </p:extLst>
          </p:nvPr>
        </p:nvGraphicFramePr>
        <p:xfrm>
          <a:off x="6569631" y="3327834"/>
          <a:ext cx="1728784" cy="552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067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kumimoji="0" lang="en-US" altLang="ko-KR" sz="1100" b="1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Word List</a:t>
                      </a:r>
                      <a:r>
                        <a:rPr kumimoji="0" lang="ko-KR" altLang="en-US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추가 탐색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D9D9D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9" name="직선 화살표 연결선 68"/>
          <p:cNvCxnSpPr>
            <a:stCxn id="68" idx="2"/>
            <a:endCxn id="70" idx="0"/>
          </p:cNvCxnSpPr>
          <p:nvPr/>
        </p:nvCxnSpPr>
        <p:spPr>
          <a:xfrm rot="16200000" flipH="1" flipV="1">
            <a:off x="7338018" y="3975905"/>
            <a:ext cx="192011" cy="2"/>
          </a:xfrm>
          <a:prstGeom prst="straightConnector1">
            <a:avLst/>
          </a:prstGeom>
          <a:noFill/>
          <a:ln w="6350" cap="flat" cmpd="sng" algn="ctr">
            <a:solidFill>
              <a:srgbClr val="4472C4">
                <a:alpha val="100000"/>
              </a:srgbClr>
            </a:solidFill>
            <a:prstDash val="solid"/>
            <a:miter/>
            <a:tailEnd type="arrow"/>
          </a:ln>
        </p:spPr>
      </p:cxnSp>
      <p:graphicFrame>
        <p:nvGraphicFramePr>
          <p:cNvPr id="70" name="표 69"/>
          <p:cNvGraphicFramePr/>
          <p:nvPr>
            <p:extLst>
              <p:ext uri="{D42A27DB-BD31-4B8C-83A1-F6EECF244321}">
                <p14:modId xmlns:p14="http://schemas.microsoft.com/office/powerpoint/2010/main" val="3697005178"/>
              </p:ext>
            </p:extLst>
          </p:nvPr>
        </p:nvGraphicFramePr>
        <p:xfrm>
          <a:off x="6569631" y="4071912"/>
          <a:ext cx="1728784" cy="552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067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kumimoji="0" lang="en-US" altLang="ko-KR" sz="1100" b="1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Sink </a:t>
                      </a:r>
                      <a:r>
                        <a:rPr kumimoji="0" lang="ko-KR" altLang="en-US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후보 생성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D9D9D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49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취약 엔드포인트 탐색</a:t>
            </a:r>
            <a:r>
              <a:rPr lang="en-US" altLang="ko-KR" sz="2700" b="1">
                <a:latin typeface="Trebuchet MS" panose="020B0603020202020204" pitchFamily="34" charset="0"/>
                <a:ea typeface="맑은 고딕"/>
              </a:rPr>
              <a:t>: Sink finder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ko-KR" altLang="en-US" sz="105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직선 연결선 40"/>
          <p:cNvCxnSpPr/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pic>
        <p:nvPicPr>
          <p:cNvPr id="38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sp>
        <p:nvSpPr>
          <p:cNvPr id="51" name="TextBox 27"/>
          <p:cNvSpPr txBox="1"/>
          <p:nvPr/>
        </p:nvSpPr>
        <p:spPr>
          <a:xfrm>
            <a:off x="481034" y="1216321"/>
            <a:ext cx="1010820" cy="230832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342900">
              <a:spcBef>
                <a:spcPct val="0"/>
              </a:spcBef>
              <a:defRPr/>
            </a:pPr>
            <a:r>
              <a:rPr lang="ko-KR" altLang="en-US" sz="1500" b="1" kern="1200">
                <a:latin typeface="Trebuchet MS" panose="020B0603020202020204" pitchFamily="34" charset="0"/>
                <a:ea typeface="맑은 고딕"/>
              </a:rPr>
              <a:t>결과</a:t>
            </a:r>
          </a:p>
        </p:txBody>
      </p:sp>
      <p:pic>
        <p:nvPicPr>
          <p:cNvPr id="58" name="그림 5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61610" y="1869672"/>
            <a:ext cx="6830331" cy="261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65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4" name="Google Shape;694;p19"/>
          <p:cNvCxnSpPr/>
          <p:nvPr/>
        </p:nvCxnSpPr>
        <p:spPr>
          <a:xfrm>
            <a:off x="270030" y="268002"/>
            <a:ext cx="462529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5" name="Google Shape;695;p19"/>
          <p:cNvCxnSpPr/>
          <p:nvPr/>
        </p:nvCxnSpPr>
        <p:spPr>
          <a:xfrm rot="5400000">
            <a:off x="-476799" y="1014831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96" name="Google Shape;696;p19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697" name="Google Shape;697;p19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98" name="Google Shape;698;p19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699" name="Google Shape;699;p19"/>
          <p:cNvCxnSpPr/>
          <p:nvPr/>
        </p:nvCxnSpPr>
        <p:spPr>
          <a:xfrm rot="-5400000">
            <a:off x="-476800" y="4128669"/>
            <a:ext cx="149366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0" name="Google Shape;700;p19"/>
          <p:cNvCxnSpPr/>
          <p:nvPr/>
        </p:nvCxnSpPr>
        <p:spPr>
          <a:xfrm>
            <a:off x="3825171" y="4875499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01" name="Google Shape;701;p19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702" name="Google Shape;702;p19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3" name="Google Shape;703;p19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704" name="Google Shape;704;p19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705" name="Google Shape;705;p19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6" name="Google Shape;706;p19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707" name="Google Shape;707;p19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708" name="Google Shape;708;p19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9" name="Google Shape;709;p19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710" name="Google Shape;710;p19"/>
          <p:cNvSpPr txBox="1"/>
          <p:nvPr/>
        </p:nvSpPr>
        <p:spPr>
          <a:xfrm>
            <a:off x="851838" y="2365259"/>
            <a:ext cx="74730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스캐너 실행 및 통합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31137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5769" y="4514851"/>
            <a:ext cx="8272463" cy="335756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5769" y="1318691"/>
            <a:ext cx="8272463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5769" y="1904479"/>
            <a:ext cx="8272463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35769" y="2490266"/>
            <a:ext cx="8272463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5769" y="3076054"/>
            <a:ext cx="8272463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5769" y="3661841"/>
            <a:ext cx="8272463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227707" y="4600576"/>
            <a:ext cx="9599414" cy="1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844">
                <a:solidFill>
                  <a:srgbClr val="475569"/>
                </a:solidFill>
                <a:latin typeface="Trebuchet MS" panose="020B0603020202020204" pitchFamily="34" charset="0"/>
              </a:rPr>
              <a:t>세션 쿠키와 실제 취약 판정은 로컬에서 처리하고, AI는 스캐너 선택과 결과 요약을 담당합니다.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769" y="485775"/>
            <a:ext cx="233237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30"/>
              </a:lnSpc>
              <a:defRPr/>
            </a:pPr>
            <a:r>
              <a:rPr sz="2025" b="1" dirty="0" err="1">
                <a:solidFill>
                  <a:srgbClr val="111111"/>
                </a:solidFill>
                <a:latin typeface="Trebuchet MS" panose="020B0603020202020204" pitchFamily="34" charset="0"/>
              </a:rPr>
              <a:t>스캐너</a:t>
            </a:r>
            <a:r>
              <a:rPr sz="2025" b="1" dirty="0">
                <a:solidFill>
                  <a:srgbClr val="111111"/>
                </a:solidFill>
                <a:latin typeface="Trebuchet MS" panose="020B0603020202020204" pitchFamily="34" charset="0"/>
              </a:rPr>
              <a:t> </a:t>
            </a:r>
            <a:r>
              <a:rPr sz="2025" b="1" dirty="0" err="1">
                <a:solidFill>
                  <a:srgbClr val="111111"/>
                </a:solidFill>
                <a:latin typeface="Trebuchet MS" panose="020B0603020202020204" pitchFamily="34" charset="0"/>
              </a:rPr>
              <a:t>실행</a:t>
            </a:r>
            <a:r>
              <a:rPr sz="2025" b="1" dirty="0">
                <a:solidFill>
                  <a:srgbClr val="111111"/>
                </a:solidFill>
                <a:latin typeface="Trebuchet MS" panose="020B0603020202020204" pitchFamily="34" charset="0"/>
              </a:rPr>
              <a:t> 및 </a:t>
            </a:r>
            <a:r>
              <a:rPr sz="2025" b="1" dirty="0" err="1">
                <a:solidFill>
                  <a:srgbClr val="111111"/>
                </a:solidFill>
                <a:latin typeface="Trebuchet MS" panose="020B0603020202020204" pitchFamily="34" charset="0"/>
              </a:rPr>
              <a:t>통합</a:t>
            </a:r>
            <a:endParaRPr sz="2025" b="1" dirty="0">
              <a:solidFill>
                <a:srgbClr val="111111"/>
              </a:solidFill>
              <a:latin typeface="Trebuchet MS" panose="020B0603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8631" y="1483641"/>
            <a:ext cx="485775" cy="155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013" b="1">
                <a:solidFill>
                  <a:srgbClr val="111111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1461566"/>
            <a:ext cx="610745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125" b="1">
                <a:solidFill>
                  <a:srgbClr val="111111"/>
                </a:solidFill>
                <a:latin typeface="Trebuchet MS" panose="020B0603020202020204" pitchFamily="34" charset="0"/>
              </a:rPr>
              <a:t>Sink 탐색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8875" y="1475854"/>
            <a:ext cx="3600345" cy="1470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6">
                <a:solidFill>
                  <a:srgbClr val="475569"/>
                </a:solidFill>
                <a:latin typeface="Trebuchet MS" panose="020B0603020202020204" pitchFamily="34" charset="0"/>
              </a:rPr>
              <a:t>로그인 세션으로 링크, 폼, JavaScript에서 엔드포인트 561개 수집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631" y="2069428"/>
            <a:ext cx="485775" cy="155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013" b="1">
                <a:solidFill>
                  <a:srgbClr val="111111"/>
                </a:solidFill>
                <a:latin typeface="Trebuchet MS" panose="020B0603020202020204" pitchFamily="34" charset="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6" y="2047354"/>
            <a:ext cx="799899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125" b="1">
                <a:solidFill>
                  <a:srgbClr val="111111"/>
                </a:solidFill>
                <a:latin typeface="Trebuchet MS" panose="020B0603020202020204" pitchFamily="34" charset="0"/>
              </a:rPr>
              <a:t>AI 입력 축약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8875" y="2061641"/>
            <a:ext cx="3358292" cy="1470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6">
                <a:solidFill>
                  <a:srgbClr val="475569"/>
                </a:solidFill>
                <a:latin typeface="Trebuchet MS" panose="020B0603020202020204" pitchFamily="34" charset="0"/>
              </a:rPr>
              <a:t>중복 경로와 입력 형태를 정리해 OpenAI 전달 그룹 38개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631" y="2655216"/>
            <a:ext cx="485775" cy="155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013" b="1">
                <a:solidFill>
                  <a:srgbClr val="111111"/>
                </a:solidFill>
                <a:latin typeface="Trebuchet MS" panose="020B0603020202020204" pitchFamily="34" charset="0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2633141"/>
            <a:ext cx="95859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125" b="1">
                <a:solidFill>
                  <a:srgbClr val="111111"/>
                </a:solidFill>
                <a:latin typeface="Trebuchet MS" panose="020B0603020202020204" pitchFamily="34" charset="0"/>
              </a:rPr>
              <a:t>검사 유형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8875" y="2647429"/>
            <a:ext cx="3321422" cy="1470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6">
                <a:solidFill>
                  <a:srgbClr val="475569"/>
                </a:solidFill>
                <a:latin typeface="Trebuchet MS" panose="020B0603020202020204" pitchFamily="34" charset="0"/>
              </a:rPr>
              <a:t>URL, Method, Parameters를 기준으로 9종 스캐너 후보 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631" y="3241003"/>
            <a:ext cx="485775" cy="155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013" b="1">
                <a:solidFill>
                  <a:srgbClr val="111111"/>
                </a:solidFill>
                <a:latin typeface="Trebuchet MS" panose="020B0603020202020204" pitchFamily="34" charset="0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125" y="3218929"/>
            <a:ext cx="126637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125" b="1">
                <a:solidFill>
                  <a:srgbClr val="111111"/>
                </a:solidFill>
                <a:latin typeface="Trebuchet MS" panose="020B0603020202020204" pitchFamily="34" charset="0"/>
              </a:rPr>
              <a:t>Function Tool 호출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8875" y="3233216"/>
            <a:ext cx="3363100" cy="1470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6">
                <a:solidFill>
                  <a:srgbClr val="475569"/>
                </a:solidFill>
                <a:latin typeface="Trebuchet MS" panose="020B0603020202020204" pitchFamily="34" charset="0"/>
              </a:rPr>
              <a:t>AI가 검사 함수를 33회 호출하고 로컬 모듈이 HTTP 요청 수행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631" y="3826791"/>
            <a:ext cx="485775" cy="155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013" b="1">
                <a:solidFill>
                  <a:srgbClr val="111111"/>
                </a:solidFill>
                <a:latin typeface="Trebuchet MS" panose="020B0603020202020204" pitchFamily="34" charset="0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3804716"/>
            <a:ext cx="623569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125" b="1">
                <a:solidFill>
                  <a:srgbClr val="111111"/>
                </a:solidFill>
                <a:latin typeface="Trebuchet MS" panose="020B0603020202020204" pitchFamily="34" charset="0"/>
              </a:rPr>
              <a:t>결과 통합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8875" y="3819004"/>
            <a:ext cx="3377528" cy="1470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6">
                <a:solidFill>
                  <a:srgbClr val="475569"/>
                </a:solidFill>
                <a:latin typeface="Trebuchet MS" panose="020B0603020202020204" pitchFamily="34" charset="0"/>
              </a:rPr>
              <a:t>모든 응답 근거를 공통 JSON으로 변환해 최종 판정 42건 생성</a:t>
            </a:r>
          </a:p>
        </p:txBody>
      </p:sp>
      <p:sp>
        <p:nvSpPr>
          <p:cNvPr id="28" name="TextBox 32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cxnSp>
        <p:nvCxnSpPr>
          <p:cNvPr id="29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grpSp>
        <p:nvGrpSpPr>
          <p:cNvPr id="32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33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3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41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44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924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5769" y="4514851"/>
            <a:ext cx="8272463" cy="335756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5769" y="1290117"/>
            <a:ext cx="1982390" cy="721519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532460" y="1290117"/>
            <a:ext cx="1982390" cy="721519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629151" y="1290117"/>
            <a:ext cx="1982390" cy="721519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25841" y="1290117"/>
            <a:ext cx="1982390" cy="721519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35769" y="1065758"/>
            <a:ext cx="8272463" cy="33347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27707" y="4600576"/>
            <a:ext cx="9599414" cy="1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844">
                <a:solidFill>
                  <a:srgbClr val="475569"/>
                </a:solidFill>
                <a:latin typeface="Trebuchet MS" panose="020B0603020202020204" pitchFamily="34" charset="0"/>
              </a:rPr>
              <a:t>22개 고유 엔드포인트에서 42건 판정. REVIEW 1건은 화면의 ‘수동 검토’ 탭에서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769" y="485775"/>
            <a:ext cx="198772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30"/>
              </a:lnSpc>
              <a:defRPr/>
            </a:pPr>
            <a:r>
              <a:rPr sz="2025" b="1">
                <a:solidFill>
                  <a:srgbClr val="111111"/>
                </a:solidFill>
                <a:latin typeface="Trebuchet MS" panose="020B0603020202020204" pitchFamily="34" charset="0"/>
              </a:rPr>
              <a:t>통합 테스트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9031" y="1411560"/>
            <a:ext cx="35586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363"/>
              </a:lnSpc>
              <a:defRPr/>
            </a:pPr>
            <a:r>
              <a:rPr sz="2363" b="1">
                <a:solidFill>
                  <a:srgbClr val="0F172A"/>
                </a:solidFill>
                <a:latin typeface="Trebuchet MS" panose="020B0603020202020204" pitchFamily="34" charset="0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1974" y="1754460"/>
            <a:ext cx="629981" cy="1212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788" b="1">
                <a:solidFill>
                  <a:srgbClr val="64748B"/>
                </a:solidFill>
                <a:latin typeface="Trebuchet MS" panose="020B0603020202020204" pitchFamily="34" charset="0"/>
              </a:rPr>
              <a:t>VULNERABLE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5722" y="1411560"/>
            <a:ext cx="35586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363"/>
              </a:lnSpc>
              <a:defRPr/>
            </a:pPr>
            <a:r>
              <a:rPr sz="2363" b="1">
                <a:solidFill>
                  <a:srgbClr val="0F172A"/>
                </a:solidFill>
                <a:latin typeface="Trebuchet MS" panose="020B0603020202020204" pitchFamily="34" charset="0"/>
              </a:rP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642" y="1754460"/>
            <a:ext cx="226024" cy="1212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788" b="1">
                <a:solidFill>
                  <a:srgbClr val="64748B"/>
                </a:solidFill>
                <a:latin typeface="Trebuchet MS" panose="020B0603020202020204" pitchFamily="34" charset="0"/>
              </a:rPr>
              <a:t>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1378" y="1411560"/>
            <a:ext cx="17793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363"/>
              </a:lnSpc>
              <a:defRPr/>
            </a:pPr>
            <a:r>
              <a:rPr sz="2363" b="1">
                <a:solidFill>
                  <a:srgbClr val="0F172A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7603" y="1754460"/>
            <a:ext cx="365485" cy="1212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788" b="1">
                <a:solidFill>
                  <a:srgbClr val="64748B"/>
                </a:solidFill>
                <a:latin typeface="Trebuchet MS" panose="020B0603020202020204" pitchFamily="34" charset="0"/>
              </a:rP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8069" y="1411560"/>
            <a:ext cx="17793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363"/>
              </a:lnSpc>
              <a:defRPr/>
            </a:pPr>
            <a:r>
              <a:rPr sz="2363" b="1">
                <a:solidFill>
                  <a:srgbClr val="0F172A"/>
                </a:solidFill>
                <a:latin typeface="Trebuchet MS" panose="020B0603020202020204" pitchFamily="34" charset="0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9140" y="1754460"/>
            <a:ext cx="315791" cy="1212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788" b="1">
                <a:solidFill>
                  <a:srgbClr val="64748B"/>
                </a:solidFill>
                <a:latin typeface="Trebuchet MS" panose="020B0603020202020204" pitchFamily="34" charset="0"/>
              </a:rPr>
              <a:t>ERROR</a:t>
            </a:r>
          </a:p>
        </p:txBody>
      </p:sp>
      <p:cxnSp>
        <p:nvCxnSpPr>
          <p:cNvPr id="21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4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grpSp>
        <p:nvGrpSpPr>
          <p:cNvPr id="24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25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29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32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35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2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</p:spTree>
    <p:extLst>
      <p:ext uri="{BB962C8B-B14F-4D97-AF65-F5344CB8AC3E}">
        <p14:creationId xmlns:p14="http://schemas.microsoft.com/office/powerpoint/2010/main" val="75503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5769" y="4514851"/>
            <a:ext cx="8272463" cy="335756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5769" y="2561704"/>
            <a:ext cx="8272463" cy="132873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5769" y="1575866"/>
            <a:ext cx="2681250" cy="842963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231319" y="1575866"/>
            <a:ext cx="2681250" cy="842963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26869" y="1575866"/>
            <a:ext cx="2681250" cy="842963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227707" y="4600576"/>
            <a:ext cx="9599414" cy="1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844">
                <a:solidFill>
                  <a:srgbClr val="475569"/>
                </a:solidFill>
                <a:latin typeface="Trebuchet MS" panose="020B0603020202020204" pitchFamily="34" charset="0"/>
              </a:rPr>
              <a:t>취약점이 없어도 시도한 입력, 관찰한 응답, 최종 판단 사유를 결과 JSON에 기록합니다.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69" y="485775"/>
            <a:ext cx="224741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30"/>
              </a:lnSpc>
              <a:defRPr/>
            </a:pPr>
            <a:r>
              <a:rPr sz="2025" b="1">
                <a:solidFill>
                  <a:srgbClr val="111111"/>
                </a:solidFill>
                <a:latin typeface="Trebuchet MS" panose="020B0603020202020204" pitchFamily="34" charset="0"/>
              </a:rPr>
              <a:t>진단 로직의 논리성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788" y="2711723"/>
            <a:ext cx="1426673" cy="1470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6" b="1" dirty="0" err="1">
                <a:solidFill>
                  <a:srgbClr val="0F172A"/>
                </a:solidFill>
                <a:latin typeface="Trebuchet MS" panose="020B0603020202020204" pitchFamily="34" charset="0"/>
              </a:rPr>
              <a:t>예시</a:t>
            </a:r>
            <a:r>
              <a:rPr sz="956" b="1" dirty="0">
                <a:solidFill>
                  <a:srgbClr val="0F172A"/>
                </a:solidFill>
                <a:latin typeface="Trebuchet MS" panose="020B0603020202020204" pitchFamily="34" charset="0"/>
              </a:rPr>
              <a:t>: </a:t>
            </a:r>
            <a:r>
              <a:rPr sz="956" b="1" dirty="0" err="1">
                <a:solidFill>
                  <a:srgbClr val="0F172A"/>
                </a:solidFill>
                <a:latin typeface="Trebuchet MS" panose="020B0603020202020204" pitchFamily="34" charset="0"/>
              </a:rPr>
              <a:t>사용자</a:t>
            </a:r>
            <a:r>
              <a:rPr sz="956" b="1" dirty="0">
                <a:solidFill>
                  <a:srgbClr val="0F172A"/>
                </a:solidFill>
                <a:latin typeface="Trebuchet MS" panose="020B0603020202020204" pitchFamily="34" charset="0"/>
              </a:rPr>
              <a:t> </a:t>
            </a:r>
            <a:r>
              <a:rPr sz="956" b="1" dirty="0" err="1">
                <a:solidFill>
                  <a:srgbClr val="0F172A"/>
                </a:solidFill>
                <a:latin typeface="Trebuchet MS" panose="020B0603020202020204" pitchFamily="34" charset="0"/>
              </a:rPr>
              <a:t>프로필</a:t>
            </a:r>
            <a:r>
              <a:rPr sz="956" b="1" dirty="0">
                <a:solidFill>
                  <a:srgbClr val="0F172A"/>
                </a:solidFill>
                <a:latin typeface="Trebuchet MS" panose="020B0603020202020204" pitchFamily="34" charset="0"/>
              </a:rPr>
              <a:t> IDOR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983060"/>
            <a:ext cx="248122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181"/>
              </a:lnSpc>
              <a:defRPr/>
            </a:pPr>
            <a:r>
              <a:rPr sz="844">
                <a:solidFill>
                  <a:srgbClr val="475569"/>
                </a:solidFill>
                <a:latin typeface="Trebuchet MS" panose="020B0603020202020204" pitchFamily="34" charset="0"/>
              </a:rPr>
              <a:t>요청 URL과 Method, Parameters를 기록하고 실제 사용한 페이로드·계정 조건을 남김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7050" y="1983060"/>
            <a:ext cx="248122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181"/>
              </a:lnSpc>
              <a:defRPr/>
            </a:pPr>
            <a:r>
              <a:rPr sz="844">
                <a:solidFill>
                  <a:srgbClr val="475569"/>
                </a:solidFill>
                <a:latin typeface="Trebuchet MS" panose="020B0603020202020204" pitchFamily="34" charset="0"/>
              </a:rPr>
              <a:t>HTTP 상태 코드, 리다이렉트 위치, 응답 본문의 보호 정보와 오류 표식을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2600" y="1983060"/>
            <a:ext cx="248122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181"/>
              </a:lnSpc>
              <a:defRPr/>
            </a:pPr>
            <a:r>
              <a:rPr sz="844">
                <a:solidFill>
                  <a:srgbClr val="475569"/>
                </a:solidFill>
                <a:latin typeface="Trebuchet MS" panose="020B0603020202020204" pitchFamily="34" charset="0"/>
              </a:rPr>
              <a:t>관찰 결과를 기준과 비교해 취약·양호·N/A를 결정하고 result에 판정 사유를 기록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787" y="2968898"/>
            <a:ext cx="3013646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844" b="1">
                <a:solidFill>
                  <a:srgbClr val="0F172A"/>
                </a:solidFill>
                <a:latin typeface="Trebuchet MS" panose="020B0603020202020204" pitchFamily="34" charset="0"/>
              </a:rPr>
              <a:t>시도: 사용자 B의 세션으로 사용자 A의 /api/profiles/{id} 요청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788" y="3176067"/>
            <a:ext cx="3398366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844" b="1">
                <a:solidFill>
                  <a:srgbClr val="0F172A"/>
                </a:solidFill>
                <a:latin typeface="Trebuchet MS" panose="020B0603020202020204" pitchFamily="34" charset="0"/>
              </a:rPr>
              <a:t>관찰: HTTP 200 응답에서 user_id, email, phone 같은 보호 필드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788" y="3383236"/>
            <a:ext cx="2845331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844" b="1">
                <a:solidFill>
                  <a:srgbClr val="0F172A"/>
                </a:solidFill>
                <a:latin typeface="Trebuchet MS" panose="020B0603020202020204" pitchFamily="34" charset="0"/>
              </a:rPr>
              <a:t>판정: </a:t>
            </a:r>
            <a:r>
              <a:rPr sz="844" b="1">
                <a:solidFill>
                  <a:srgbClr val="E11D48"/>
                </a:solidFill>
                <a:latin typeface="Trebuchet MS" panose="020B0603020202020204" pitchFamily="34" charset="0"/>
              </a:rPr>
              <a:t>다른 사용자의 정보가 반환되었으므로 VULNERABLE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788" y="3590404"/>
            <a:ext cx="2644955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844" b="1">
                <a:solidFill>
                  <a:srgbClr val="0F172A"/>
                </a:solidFill>
                <a:latin typeface="Trebuchet MS" panose="020B0603020202020204" pitchFamily="34" charset="0"/>
              </a:rPr>
              <a:t>비교: HTTP 401·403 또는 로그인 화면 이동이면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344" y="1753801"/>
            <a:ext cx="428625" cy="1299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844" b="1">
                <a:solidFill>
                  <a:srgbClr val="111111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538" y="1729457"/>
            <a:ext cx="562655" cy="1558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13" b="1">
                <a:solidFill>
                  <a:srgbClr val="0F172A"/>
                </a:solidFill>
                <a:latin typeface="Trebuchet MS" panose="020B0603020202020204" pitchFamily="34" charset="0"/>
              </a:rPr>
              <a:t>검사 시도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59894" y="1753801"/>
            <a:ext cx="428625" cy="1299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844" b="1">
                <a:solidFill>
                  <a:srgbClr val="111111"/>
                </a:solidFill>
                <a:latin typeface="Trebuchet MS" panose="020B0603020202020204" pitchFamily="34" charset="0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7088" y="1729457"/>
            <a:ext cx="562655" cy="1558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13" b="1">
                <a:solidFill>
                  <a:srgbClr val="0F172A"/>
                </a:solidFill>
                <a:latin typeface="Trebuchet MS" panose="020B0603020202020204" pitchFamily="34" charset="0"/>
              </a:rPr>
              <a:t>응답 관찰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5444" y="1753801"/>
            <a:ext cx="428625" cy="1299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844" b="1">
                <a:solidFill>
                  <a:srgbClr val="111111"/>
                </a:solidFill>
                <a:latin typeface="Trebuchet MS" panose="020B0603020202020204" pitchFamily="34" charset="0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2638" y="1729457"/>
            <a:ext cx="692497" cy="1558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13" b="1">
                <a:solidFill>
                  <a:srgbClr val="0F172A"/>
                </a:solidFill>
                <a:latin typeface="Trebuchet MS" panose="020B0603020202020204" pitchFamily="34" charset="0"/>
              </a:rPr>
              <a:t>판정과 근거</a:t>
            </a:r>
          </a:p>
        </p:txBody>
      </p:sp>
      <p:cxnSp>
        <p:nvCxnSpPr>
          <p:cNvPr id="26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grpSp>
        <p:nvGrpSpPr>
          <p:cNvPr id="29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30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34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37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40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32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</p:spTree>
    <p:extLst>
      <p:ext uri="{BB962C8B-B14F-4D97-AF65-F5344CB8AC3E}">
        <p14:creationId xmlns:p14="http://schemas.microsoft.com/office/powerpoint/2010/main" val="362674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5769" y="4514851"/>
            <a:ext cx="8272463" cy="335756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5769" y="3583261"/>
            <a:ext cx="8272463" cy="592931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5769" y="2018779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5769" y="1640160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5769" y="1640160"/>
            <a:ext cx="7144" cy="38576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07394" y="2018779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07394" y="1640160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701088" y="1640160"/>
            <a:ext cx="7144" cy="38576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450740" y="3697560"/>
            <a:ext cx="2374432" cy="150019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5769" y="2475979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5769" y="2097360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5769" y="2097360"/>
            <a:ext cx="7144" cy="38576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007394" y="2475979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07394" y="2097360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701088" y="2097360"/>
            <a:ext cx="7144" cy="38576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5769" y="2933179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35769" y="2554560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5769" y="2554560"/>
            <a:ext cx="7144" cy="38576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007394" y="2933179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007394" y="2554560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701088" y="2554560"/>
            <a:ext cx="7144" cy="38576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5769" y="3390379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5769" y="3011760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35769" y="3011760"/>
            <a:ext cx="7144" cy="38576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007394" y="3390379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007394" y="3011760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701088" y="3011760"/>
            <a:ext cx="7144" cy="38576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818554"/>
              </p:ext>
            </p:extLst>
          </p:nvPr>
        </p:nvGraphicFramePr>
        <p:xfrm>
          <a:off x="435769" y="1568722"/>
          <a:ext cx="8272463" cy="1900238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0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05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 panose="020B0603020202020204" pitchFamily="34" charset="0"/>
                        </a:rPr>
                        <a:t>VULNERABLE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공격 요청이 성공했고 보호 데이터 또는 위험 동작을 실제 응답에서 확인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05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 panose="020B0603020202020204" pitchFamily="34" charset="0"/>
                        </a:rPr>
                        <a:t>PASS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서버가 요청을 차단했거나 입력을 안전하게 처리한 응답을 확인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05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 panose="020B0603020202020204" pitchFamily="34" charset="0"/>
                        </a:rPr>
                        <a:t>N/A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검사에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필요한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입력이나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기능이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없어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적용할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수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없음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.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REVIEW로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저장하고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사유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명시</a:t>
                      </a: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06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 panose="020B0603020202020204" pitchFamily="34" charset="0"/>
                        </a:rPr>
                        <a:t>ERROR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연결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,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설정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또는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인증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문제로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검사를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완료하지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못해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보안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판정과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분리</a:t>
                      </a: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-227707" y="4600576"/>
            <a:ext cx="9599414" cy="1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844">
                <a:solidFill>
                  <a:srgbClr val="475569"/>
                </a:solidFill>
                <a:latin typeface="Trebuchet MS" panose="020B0603020202020204" pitchFamily="34" charset="0"/>
              </a:rPr>
              <a:t>모든 검사는 표준화된 출력 스키마를 준수합니다.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769" y="1290117"/>
            <a:ext cx="4231928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00">
                <a:solidFill>
                  <a:srgbClr val="64748B"/>
                </a:solidFill>
                <a:latin typeface="Trebuchet MS" panose="020B0603020202020204" pitchFamily="34" charset="0"/>
              </a:rPr>
              <a:t>취약점이 나오지 않은 경우도 검사 결과와 판단 사유를 동일한 형식으로 남깁니다.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8644" y="3697561"/>
            <a:ext cx="8058150" cy="1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44" b="1">
                <a:solidFill>
                  <a:srgbClr val="0F172A"/>
                </a:solidFill>
                <a:latin typeface="Trebuchet MS" panose="020B0603020202020204" pitchFamily="34" charset="0"/>
              </a:rPr>
              <a:t>공통 JSON 출력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769" y="485775"/>
            <a:ext cx="267701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30"/>
              </a:lnSpc>
              <a:defRPr/>
            </a:pPr>
            <a:r>
              <a:rPr sz="2025" b="1">
                <a:solidFill>
                  <a:srgbClr val="111111"/>
                </a:solidFill>
                <a:latin typeface="Trebuchet MS" panose="020B0603020202020204" pitchFamily="34" charset="0"/>
              </a:rPr>
              <a:t>판정 기준 및 출력 근거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7890" y="3718992"/>
            <a:ext cx="2317282" cy="259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44">
                <a:solidFill>
                  <a:srgbClr val="334155"/>
                </a:solidFill>
                <a:latin typeface="Trebuchet MS" panose="020B0603020202020204" pitchFamily="34" charset="0"/>
              </a:rPr>
              <a:t>url · method · parameters · vuln · result · details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787" y="3911873"/>
            <a:ext cx="3475310" cy="1212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788">
                <a:solidFill>
                  <a:srgbClr val="64748B"/>
                </a:solidFill>
                <a:latin typeface="Trebuchet MS" panose="020B0603020202020204" pitchFamily="34" charset="0"/>
              </a:rPr>
              <a:t>예: N/A · 사용자 입력 파라미터가 없어 SQL Injection 검사를 적용할 수 없음</a:t>
            </a:r>
          </a:p>
        </p:txBody>
      </p:sp>
      <p:cxnSp>
        <p:nvCxnSpPr>
          <p:cNvPr id="39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2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grpSp>
        <p:nvGrpSpPr>
          <p:cNvPr id="42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43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4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5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5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32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</p:spTree>
    <p:extLst>
      <p:ext uri="{BB962C8B-B14F-4D97-AF65-F5344CB8AC3E}">
        <p14:creationId xmlns:p14="http://schemas.microsoft.com/office/powerpoint/2010/main" val="9140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5769" y="4514851"/>
            <a:ext cx="8272463" cy="335756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5769" y="2236663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5769" y="1407988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5769" y="1407988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07394" y="2236663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07394" y="1407988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01088" y="1407988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5769" y="3143919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5769" y="2315244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5769" y="2315244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07394" y="3143919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07394" y="2315244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01088" y="2315244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5769" y="4051176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5769" y="3222501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5769" y="3222501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07394" y="4051176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007394" y="3222501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701088" y="3222501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566029"/>
              </p:ext>
            </p:extLst>
          </p:nvPr>
        </p:nvGraphicFramePr>
        <p:xfrm>
          <a:off x="435768" y="833426"/>
          <a:ext cx="8272463" cy="390906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0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 panose="020B0603020202020204" pitchFamily="34" charset="0"/>
                        </a:rPr>
                        <a:t>SQL Injection </a:t>
                      </a:r>
                      <a:endParaRPr sz="700" b="0" i="0" u="none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endParaRPr sz="700" b="0" i="0" u="none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검사: 검색·조회 필드에 따옴표와 Boolean 페이로드를 반복 전송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VULNERABLE: DB 오류가 반복 노출되거나 참·거짓 응답 차이가 2회 재현</a:t>
                      </a: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 algn="l"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PASS: 공격 입력이 차단되거나 검사를 마쳤지만 주입 증거가 없음</a:t>
                      </a: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 algn="l"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REVIEW·ERROR: 입력 필드 부재·불안정한 차이는 REVIEW, 기준 응답·연결 실패는 ERROR</a:t>
                      </a: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 panose="020B0603020202020204" pitchFamily="34" charset="0"/>
                        </a:rPr>
                        <a:t>Reflected XSS </a:t>
                      </a:r>
                      <a:endParaRPr sz="700" b="0" i="0" u="none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endParaRPr sz="700" b="0" i="0" u="none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검사: Canary 반사 위치를 찾은 뒤 XSS 페이로드의 인코딩 여부 확인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dirty="0"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VULNERABLE: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스크립트가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HTML·속성·JavaScript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영역에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인코딩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없이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포함</a:t>
                      </a: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 algn="l">
                        <a:defRPr/>
                      </a:pP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PASS: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미반사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, HTML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인코딩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또는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페이로드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제거가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확인됨</a:t>
                      </a: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 algn="l">
                        <a:defRPr/>
                      </a:pP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REVIEW·ERROR: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폼·파라미터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부재나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HTTP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거부는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REVIEW,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연결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실패는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ERROR</a:t>
                      </a: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 panose="020B0603020202020204" pitchFamily="34" charset="0"/>
                        </a:rPr>
                        <a:t>SSRF </a:t>
                      </a:r>
                      <a:endParaRPr sz="700" b="0" i="0" u="none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endParaRPr sz="700" b="0" i="0" u="none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검사: 실제 폼과 CSRF 토큰으로 내부 검증 URL을 preview 요청에 삽입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dirty="0"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VULNERABLE: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대상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응답에서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미리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정한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내부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서비스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고유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문구를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확인</a:t>
                      </a: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 algn="l">
                        <a:defRPr/>
                      </a:pP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PASS: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자동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PASS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없음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: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고유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문구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미탐지만으로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안전을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단정하지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않음</a:t>
                      </a: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 algn="l">
                        <a:defRPr/>
                      </a:pP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REVIEW·ERROR: 폼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불일치·로그인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이동·HTTP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오류·증거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미탐지는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REVIEW</a:t>
                      </a: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35769" y="485775"/>
            <a:ext cx="319638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30"/>
              </a:lnSpc>
              <a:defRPr/>
            </a:pPr>
            <a:r>
              <a:rPr sz="2025" b="1">
                <a:solidFill>
                  <a:srgbClr val="111111"/>
                </a:solidFill>
                <a:latin typeface="Trebuchet MS" panose="020B0603020202020204" pitchFamily="34" charset="0"/>
              </a:rPr>
              <a:t>입력 기반 취약점 판정 기준</a:t>
            </a:r>
          </a:p>
        </p:txBody>
      </p:sp>
      <p:cxnSp>
        <p:nvCxnSpPr>
          <p:cNvPr id="27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grpSp>
        <p:nvGrpSpPr>
          <p:cNvPr id="30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31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35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38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41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직선 연결선 37"/>
          <p:cNvCxnSpPr/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32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</p:spTree>
    <p:extLst>
      <p:ext uri="{BB962C8B-B14F-4D97-AF65-F5344CB8AC3E}">
        <p14:creationId xmlns:p14="http://schemas.microsoft.com/office/powerpoint/2010/main" val="42000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5769" y="4514851"/>
            <a:ext cx="8272463" cy="335756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5769" y="2150938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5769" y="1322263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5769" y="1322263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07394" y="2150938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07394" y="1322263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01088" y="1322263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5769" y="3058194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5769" y="2229519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5769" y="2229519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07394" y="3058194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07394" y="2229519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01088" y="2229519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5769" y="4136901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5769" y="3136776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5769" y="3136776"/>
            <a:ext cx="7144" cy="10072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07394" y="4136901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007394" y="3136776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701088" y="3136776"/>
            <a:ext cx="7144" cy="10072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397941"/>
              </p:ext>
            </p:extLst>
          </p:nvPr>
        </p:nvGraphicFramePr>
        <p:xfrm>
          <a:off x="435769" y="833086"/>
          <a:ext cx="8272463" cy="390906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0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 panose="020B0603020202020204" pitchFamily="34" charset="0"/>
                        </a:rPr>
                        <a:t>Authentication </a:t>
                      </a:r>
                      <a:endParaRPr sz="700" b="0" i="0" u="none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endParaRPr sz="700" b="0" i="0" u="none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검사: 정상 세션과 세션 없음·빈 값·잘못된 값의 보호 페이지 응답 비교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100" dirty="0">
                        <a:latin typeface="Trebuchet MS" panose="020B0603020202020204" pitchFamily="34" charset="0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VULNERABLE: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무효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인증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요청이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2xx이며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보호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표식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또는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기준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응답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유사도가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높음</a:t>
                      </a: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>
                        <a:defRPr/>
                      </a:pP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PASS: HTTP 401·403·404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또는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로그인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페이지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리다이렉트로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인증을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요구</a:t>
                      </a: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>
                        <a:defRPr/>
                      </a:pP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REVIEW·ERROR: 2xx이지만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보호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내용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불일치는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REVIEW,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기준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요청·네트워크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실패는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ERROR</a:t>
                      </a:r>
                    </a:p>
                    <a:p>
                      <a:pPr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 panose="020B0603020202020204" pitchFamily="34" charset="0"/>
                        </a:rPr>
                        <a:t>Authorization </a:t>
                      </a:r>
                      <a:endParaRPr sz="700" b="0" i="0" u="none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endParaRPr sz="700" b="0" i="0" u="none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검사: 소유자와 다른 사용자의 객체 응답·비밀 표식·본문 유사도 비교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100">
                        <a:latin typeface="Trebuchet MS" panose="020B0603020202020204" pitchFamily="34" charset="0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VULNERABLE: 타 사용자가 비공개 자원을 조회하거나 접근 제어 플래그 제거로 우회</a:t>
                      </a:r>
                    </a:p>
                    <a:p>
                      <a:pPr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PASS: 다른 사용자 요청이 차단되거나 공개·공유 자원임이 확인됨</a:t>
                      </a:r>
                    </a:p>
                    <a:p>
                      <a:pPr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REVIEW·ERROR: 소유자 기준 실패·전용 자원 증거 부족은 REVIEW, 요청 실패는 ERROR</a:t>
                      </a:r>
                    </a:p>
                    <a:p>
                      <a:pPr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 panose="020B0603020202020204" pitchFamily="34" charset="0"/>
                        </a:rPr>
                        <a:t>File Upload / Download </a:t>
                      </a:r>
                      <a:endParaRPr sz="700" b="0" i="0" u="none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endParaRPr sz="700" b="0" i="0" u="none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검사: 위험 파일 업로드, 인증·권한 우회, 경로순회, 순차 ID 열거를 시나리오로 검사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100" dirty="0">
                        <a:latin typeface="Trebuchet MS" panose="020B0603020202020204" pitchFamily="34" charset="0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VULNERABLE: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위험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파일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수락·재제공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,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미인증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전송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,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비공개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파일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우회·대량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열거</a:t>
                      </a: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>
                        <a:defRPr/>
                      </a:pP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PASS: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업로드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거부·파일명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정규화·접근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차단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또는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경로순회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증거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없음</a:t>
                      </a: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>
                        <a:defRPr/>
                      </a:pP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REVIEW·ERROR: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저장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여부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불명확·세션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부족은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REVIEW,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시나리오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실패는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ERROR</a:t>
                      </a:r>
                    </a:p>
                    <a:p>
                      <a:pPr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35769" y="485775"/>
            <a:ext cx="295914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30"/>
              </a:lnSpc>
              <a:defRPr/>
            </a:pPr>
            <a:r>
              <a:rPr sz="2025" b="1">
                <a:solidFill>
                  <a:srgbClr val="111111"/>
                </a:solidFill>
                <a:latin typeface="Trebuchet MS" panose="020B0603020202020204" pitchFamily="34" charset="0"/>
              </a:rPr>
              <a:t>인증·인가·파일 판정 기준</a:t>
            </a:r>
          </a:p>
        </p:txBody>
      </p:sp>
      <p:cxnSp>
        <p:nvCxnSpPr>
          <p:cNvPr id="27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32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pic>
        <p:nvPicPr>
          <p:cNvPr id="30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2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grpSp>
        <p:nvGrpSpPr>
          <p:cNvPr id="31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32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3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4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4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직선 연결선 37"/>
          <p:cNvCxnSpPr/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17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5769" y="4514851"/>
            <a:ext cx="8272463" cy="335756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5769" y="2172369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5769" y="1343694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5769" y="1343694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07394" y="2172369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07394" y="1343694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01088" y="1343694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5769" y="3036763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5769" y="2250951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5769" y="2250951"/>
            <a:ext cx="7144" cy="79295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07394" y="3036763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07394" y="2250951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01088" y="2250951"/>
            <a:ext cx="7144" cy="79295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5769" y="4115469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5769" y="3115344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5769" y="3115344"/>
            <a:ext cx="7144" cy="10072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07394" y="4115469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007394" y="3115344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701088" y="3115344"/>
            <a:ext cx="7144" cy="10072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 panose="020B0603020202020204" pitchFamily="34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068589"/>
              </p:ext>
            </p:extLst>
          </p:nvPr>
        </p:nvGraphicFramePr>
        <p:xfrm>
          <a:off x="435769" y="822200"/>
          <a:ext cx="8272463" cy="390906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0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 panose="020B0603020202020204" pitchFamily="34" charset="0"/>
                        </a:rPr>
                        <a:t>Admin Exposure </a:t>
                      </a:r>
                      <a:endParaRPr sz="700" b="0" i="0" u="none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endParaRPr sz="700" b="0" i="0" u="none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검사: 비로그인 GET 요청으로 관리자 페이지 식별 지표 4개를 확인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dirty="0"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VULNERABLE: HTTP 200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응답에서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관리자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페이지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지표가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2개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이상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확인됨</a:t>
                      </a: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 algn="l">
                        <a:defRPr/>
                      </a:pP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PASS: 401·403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또는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로그인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이동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. 200이어도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관리자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지표가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2개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미만이면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PASS</a:t>
                      </a: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 algn="l">
                        <a:defRPr/>
                      </a:pP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REVIEW·ERROR: GET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이외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메서드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,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다른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위치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리다이렉트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,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기타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상태는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REVIEW.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요청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실패는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ERROR</a:t>
                      </a: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 dirty="0">
                          <a:solidFill>
                            <a:srgbClr val="0F172A"/>
                          </a:solidFill>
                          <a:latin typeface="Trebuchet MS" panose="020B0603020202020204" pitchFamily="34" charset="0"/>
                        </a:rPr>
                        <a:t>Directory Indexing </a:t>
                      </a:r>
                      <a:endParaRPr sz="700" b="0" i="0" u="none" dirty="0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endParaRPr sz="700" b="0" i="0" u="none" dirty="0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 dirty="0" err="1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검사</a:t>
                      </a:r>
                      <a:r>
                        <a:rPr sz="700" b="0" i="0" u="none" dirty="0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: </a:t>
                      </a:r>
                      <a:r>
                        <a:rPr sz="700" b="0" i="0" u="none" dirty="0" err="1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슬래시로</a:t>
                      </a:r>
                      <a:r>
                        <a:rPr sz="700" b="0" i="0" u="none" dirty="0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700" b="0" i="0" u="none" dirty="0" err="1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끝나는</a:t>
                      </a:r>
                      <a:r>
                        <a:rPr sz="700" b="0" i="0" u="none" dirty="0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700" b="0" i="0" u="none" dirty="0" err="1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디렉토리</a:t>
                      </a:r>
                      <a:r>
                        <a:rPr sz="700" b="0" i="0" u="none" dirty="0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700" b="0" i="0" u="none" dirty="0" err="1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URL을</a:t>
                      </a:r>
                      <a:r>
                        <a:rPr sz="700" b="0" i="0" u="none" dirty="0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700" b="0" i="0" u="none" dirty="0" err="1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비로그인</a:t>
                      </a:r>
                      <a:r>
                        <a:rPr sz="700" b="0" i="0" u="none" dirty="0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700" b="0" i="0" u="none" dirty="0" err="1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GET으로</a:t>
                      </a:r>
                      <a:r>
                        <a:rPr sz="700" b="0" i="0" u="none" dirty="0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700" b="0" i="0" u="none" dirty="0" err="1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요청</a:t>
                      </a:r>
                      <a:endParaRPr sz="700" b="0" i="0" u="none" dirty="0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dirty="0"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VULNERABLE: HTTP 200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응답의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title에서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‘Index of’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패턴을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확인</a:t>
                      </a: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 algn="l">
                        <a:defRPr/>
                      </a:pP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PASS: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응답에서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‘Index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of’가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확인되지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않음</a:t>
                      </a: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 algn="l">
                        <a:defRPr/>
                      </a:pP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REVIEW·ERROR: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파일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URL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또는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GET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이외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메서드는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REVIEW.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네트워크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요청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실패는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ERROR</a:t>
                      </a: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 panose="020B0603020202020204" pitchFamily="34" charset="0"/>
                        </a:rPr>
                        <a:t>Unexpected Open Port </a:t>
                      </a:r>
                      <a:endParaRPr sz="700" b="0" i="0" u="none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endParaRPr sz="700" b="0" i="0" u="none">
                        <a:solidFill>
                          <a:srgbClr val="64748B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>
                          <a:solidFill>
                            <a:srgbClr val="64748B"/>
                          </a:solidFill>
                          <a:latin typeface="Trebuchet MS" panose="020B0603020202020204" pitchFamily="34" charset="0"/>
                        </a:rPr>
                        <a:t>검사: 대상 호스트의 지정 TCP 포트에 연결하고 허용 목록과 비교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dirty="0"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VULNERABLE: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접속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가능한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포트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중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허용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목록에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없는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포트가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하나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이상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존재</a:t>
                      </a: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 algn="l">
                        <a:defRPr/>
                      </a:pP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PASS: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열린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포트가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없거나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모든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열린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포트가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허용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목록에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포함</a:t>
                      </a: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  <a:p>
                      <a:pPr algn="l">
                        <a:defRPr/>
                      </a:pPr>
                      <a:endParaRPr sz="900" b="0" i="0" u="none" dirty="0">
                        <a:solidFill>
                          <a:srgbClr val="334155"/>
                        </a:solidFill>
                        <a:latin typeface="Trebuchet MS" panose="020B0603020202020204" pitchFamily="34" charset="0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REVIEW·ERROR: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포트·허용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목록·timeout·호스트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설정이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올바르지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않으면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REVIEW</a:t>
                      </a:r>
                    </a:p>
                    <a:p>
                      <a:pPr algn="l">
                        <a:defRPr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Trebuchet MS" panose="020B0603020202020204" pitchFamily="34" charset="0"/>
                        </a:rPr>
                        <a:t>        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35769" y="485775"/>
            <a:ext cx="293670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30"/>
              </a:lnSpc>
              <a:defRPr/>
            </a:pPr>
            <a:r>
              <a:rPr sz="2025" b="1">
                <a:solidFill>
                  <a:srgbClr val="111111"/>
                </a:solidFill>
                <a:latin typeface="Trebuchet MS" panose="020B0603020202020204" pitchFamily="34" charset="0"/>
              </a:rPr>
              <a:t>노출 점검 모듈 판정 기준</a:t>
            </a:r>
          </a:p>
        </p:txBody>
      </p:sp>
      <p:cxnSp>
        <p:nvCxnSpPr>
          <p:cNvPr id="27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grpSp>
        <p:nvGrpSpPr>
          <p:cNvPr id="31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32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36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39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42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직선 연결선 37"/>
          <p:cNvCxnSpPr/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532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3" name="Google Shape;1033;p27"/>
          <p:cNvCxnSpPr/>
          <p:nvPr/>
        </p:nvCxnSpPr>
        <p:spPr>
          <a:xfrm>
            <a:off x="270030" y="268002"/>
            <a:ext cx="462529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4" name="Google Shape;1034;p27"/>
          <p:cNvCxnSpPr/>
          <p:nvPr/>
        </p:nvCxnSpPr>
        <p:spPr>
          <a:xfrm rot="5400000">
            <a:off x="-476799" y="1014831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35" name="Google Shape;1035;p27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1036" name="Google Shape;1036;p27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7" name="Google Shape;1037;p27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038" name="Google Shape;1038;p27"/>
          <p:cNvCxnSpPr/>
          <p:nvPr/>
        </p:nvCxnSpPr>
        <p:spPr>
          <a:xfrm rot="-5400000">
            <a:off x="-476800" y="4128669"/>
            <a:ext cx="149366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9" name="Google Shape;1039;p27"/>
          <p:cNvCxnSpPr/>
          <p:nvPr/>
        </p:nvCxnSpPr>
        <p:spPr>
          <a:xfrm>
            <a:off x="3825171" y="4875499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40" name="Google Shape;1040;p27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041" name="Google Shape;1041;p27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2" name="Google Shape;1042;p27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043" name="Google Shape;1043;p2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044" name="Google Shape;1044;p27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5" name="Google Shape;1045;p27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046" name="Google Shape;1046;p27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1047" name="Google Shape;1047;p27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8" name="Google Shape;1048;p27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49" name="Google Shape;1049;p27"/>
          <p:cNvSpPr txBox="1"/>
          <p:nvPr/>
        </p:nvSpPr>
        <p:spPr>
          <a:xfrm>
            <a:off x="851838" y="2365259"/>
            <a:ext cx="747308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AI 결과 분석 &amp; 보고서 생성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72222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4F1EB7C-BD1B-44AF-9552-CC079B80FC6B}"/>
              </a:ext>
            </a:extLst>
          </p:cNvPr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AI </a:t>
            </a:r>
            <a:r>
              <a:rPr lang="ko-KR" altLang="en-US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활용 방식에 대한 논의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38924A-74F0-454F-B382-07F2647EA6EA}"/>
              </a:ext>
            </a:extLst>
          </p:cNvPr>
          <p:cNvSpPr txBox="1"/>
          <p:nvPr/>
        </p:nvSpPr>
        <p:spPr>
          <a:xfrm>
            <a:off x="644856" y="1059582"/>
            <a:ext cx="122684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en-US" altLang="ko-KR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AI </a:t>
            </a:r>
            <a:r>
              <a:rPr lang="ko-KR" altLang="en-US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도입 여부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56E6184-E6FF-4821-8DDF-2EB24ADC473E}"/>
              </a:ext>
            </a:extLst>
          </p:cNvPr>
          <p:cNvSpPr txBox="1"/>
          <p:nvPr/>
        </p:nvSpPr>
        <p:spPr>
          <a:xfrm>
            <a:off x="2907779" y="3321656"/>
            <a:ext cx="5806891" cy="3638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특히</a:t>
            </a:r>
            <a:r>
              <a:rPr lang="en-US" altLang="ko-KR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 Sink 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탐색의 </a:t>
            </a:r>
            <a:r>
              <a:rPr lang="en-US" altLang="ko-KR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 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도입 여부에 대한 의견 차이가 있어</a:t>
            </a:r>
            <a:r>
              <a:rPr lang="en-US" altLang="ko-KR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 AI 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활용 방식과 </a:t>
            </a:r>
            <a:r>
              <a:rPr lang="ko-KR" altLang="en-US" sz="788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미활용</a:t>
            </a:r>
            <a:r>
              <a:rPr lang="en-US" altLang="ko-KR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방식을 각각 구현하여 </a:t>
            </a:r>
            <a:r>
              <a:rPr lang="ko-KR" altLang="en-US" sz="788" b="1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비교실험</a:t>
            </a:r>
            <a:r>
              <a:rPr lang="ko-KR" altLang="en-US" sz="788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진행</a:t>
            </a:r>
            <a:br>
              <a:rPr lang="en-US" altLang="ko-KR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</a:b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이후 </a:t>
            </a:r>
            <a:r>
              <a:rPr lang="en-US" altLang="ko-KR" sz="788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 </a:t>
            </a:r>
            <a:r>
              <a:rPr lang="ko-KR" altLang="en-US" sz="788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없이도 정상적으로 탐색이 수행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되는 것을 확인</a:t>
            </a:r>
            <a:r>
              <a:rPr lang="en-US" altLang="ko-KR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추가 시간과 비용이 발생하지 않는 </a:t>
            </a:r>
            <a:r>
              <a:rPr lang="en-US" altLang="ko-KR" sz="788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Python </a:t>
            </a:r>
            <a:r>
              <a:rPr lang="ko-KR" altLang="en-US" sz="788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기반 방식 채택</a:t>
            </a:r>
            <a:endParaRPr lang="en-US" altLang="ko-KR" sz="788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D51803-FDDC-4578-93AE-26452586C431}"/>
              </a:ext>
            </a:extLst>
          </p:cNvPr>
          <p:cNvSpPr txBox="1"/>
          <p:nvPr/>
        </p:nvSpPr>
        <p:spPr>
          <a:xfrm>
            <a:off x="1979712" y="976941"/>
            <a:ext cx="530635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활용 방식에 대한 의견이 분분하여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도입 여부와 적용 범위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를 논의함 </a:t>
            </a:r>
            <a:endParaRPr lang="en-US" altLang="ko-KR" sz="10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38924A-74F0-454F-B382-07F2647EA6EA}"/>
              </a:ext>
            </a:extLst>
          </p:cNvPr>
          <p:cNvSpPr txBox="1"/>
          <p:nvPr/>
        </p:nvSpPr>
        <p:spPr>
          <a:xfrm>
            <a:off x="644856" y="3536848"/>
            <a:ext cx="1388862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적용 범위 선정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E6184-E6FF-4821-8DDF-2EB24ADC473E}"/>
              </a:ext>
            </a:extLst>
          </p:cNvPr>
          <p:cNvSpPr txBox="1"/>
          <p:nvPr/>
        </p:nvSpPr>
        <p:spPr>
          <a:xfrm>
            <a:off x="644856" y="3800746"/>
            <a:ext cx="6195396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14313" indent="-214313">
              <a:lnSpc>
                <a:spcPct val="200000"/>
              </a:lnSpc>
              <a:buFontTx/>
              <a:buChar char="-"/>
            </a:pP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Scanner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선택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: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수집된 </a:t>
            </a:r>
            <a:r>
              <a:rPr lang="ko-KR" altLang="en-US" sz="1050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엔드포인트와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입력 항목을 바탕으로 실행할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검사 도구 선택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214313" indent="-214313">
              <a:lnSpc>
                <a:spcPct val="200000"/>
              </a:lnSpc>
              <a:buFontTx/>
              <a:buChar char="-"/>
            </a:pP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취약점 결과 분석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: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스캐너의 판정과 탐지 근거를 종합하여 취약점의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예상 영향과 대응 방안을 작성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214313" indent="-214313">
              <a:lnSpc>
                <a:spcPct val="200000"/>
              </a:lnSpc>
              <a:buFontTx/>
              <a:buChar char="-"/>
            </a:pP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종합 분석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: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총평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을 작성하고 확인된 취약점을 근거로 가능한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공격 시나리오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를 설명함</a:t>
            </a:r>
            <a:endParaRPr lang="en-US" altLang="ko-KR" sz="10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pic>
        <p:nvPicPr>
          <p:cNvPr id="5122" name="Picture 2" descr="ChatGPT를 넘어, 생성형 AI Generative AI 의 미래 – 1편 | 인사이트리포트 | 삼성SD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316" y="294692"/>
            <a:ext cx="1439651" cy="99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0" name="표 14">
            <a:extLst>
              <a:ext uri="{FF2B5EF4-FFF2-40B4-BE49-F238E27FC236}">
                <a16:creationId xmlns:a16="http://schemas.microsoft.com/office/drawing/2014/main" id="{0ED6BB83-2DB9-4374-8042-0C0F45F80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446289"/>
              </p:ext>
            </p:extLst>
          </p:nvPr>
        </p:nvGraphicFramePr>
        <p:xfrm>
          <a:off x="644856" y="1406267"/>
          <a:ext cx="8069814" cy="1855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9482">
                  <a:extLst>
                    <a:ext uri="{9D8B030D-6E8A-4147-A177-3AD203B41FA5}">
                      <a16:colId xmlns:a16="http://schemas.microsoft.com/office/drawing/2014/main" val="3993423520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058487976"/>
                    </a:ext>
                  </a:extLst>
                </a:gridCol>
                <a:gridCol w="5744248">
                  <a:extLst>
                    <a:ext uri="{9D8B030D-6E8A-4147-A177-3AD203B41FA5}">
                      <a16:colId xmlns:a16="http://schemas.microsoft.com/office/drawing/2014/main" val="2738770368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활용 지점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AI</a:t>
                      </a:r>
                      <a:r>
                        <a:rPr lang="en-US" altLang="ko-KR" sz="1000" b="1" baseline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000" b="1" baseline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활용</a:t>
                      </a:r>
                      <a:endParaRPr lang="ko-KR" altLang="en-US" sz="1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사유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369353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Sink </a:t>
                      </a: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탐색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호출없이 링크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파라미터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수집을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Python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 구현했을 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지점</a:t>
                      </a:r>
                      <a:r>
                        <a:rPr lang="ko-KR" altLang="en-US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탐색 결과 우수</a:t>
                      </a:r>
                      <a:endParaRPr lang="en-US" altLang="ko-KR" sz="1000" b="0" i="0" kern="120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47228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Scanner</a:t>
                      </a: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내부 판정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개별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호출에 따른 시간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비용 문제가 존재하고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1000" baseline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명확한 기준과 근거로 일관되게 판정 가능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671803"/>
                  </a:ext>
                </a:extLst>
              </a:tr>
              <a:tr h="31242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Scanner </a:t>
                      </a: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O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엔드포인트의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특성을 고려해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Python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 우선 제공된</a:t>
                      </a:r>
                      <a:r>
                        <a:rPr lang="en-US" altLang="ko-KR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후보 중 실행할 도구를 선택하도록 활용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07318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결과 분석 </a:t>
                      </a:r>
                      <a:r>
                        <a:rPr lang="ko-KR" altLang="en-US" sz="1000" b="1" baseline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및 종합 분석</a:t>
                      </a:r>
                      <a:endParaRPr lang="ko-KR" altLang="en-US" sz="1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O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여러 검사 결과를 종합하여 예상 영향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대응 방안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공격 시나리오 등을 자연어로 출력해야 함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41676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보고서 생성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기존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분석을 재사용하고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공식 지침 검색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통계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주의사항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·PDF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구성 등을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Python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으로 처리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946150"/>
                  </a:ext>
                </a:extLst>
              </a:tr>
            </a:tbl>
          </a:graphicData>
        </a:graphic>
      </p:graphicFrame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931304D-5143-4E5A-9076-82539C1CAA1D}"/>
              </a:ext>
            </a:extLst>
          </p:cNvPr>
          <p:cNvCxnSpPr>
            <a:cxnSpLocks/>
          </p:cNvCxnSpPr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3" name="Google Shape;1539;p44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4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82291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4691811" y="4046507"/>
            <a:ext cx="3711337" cy="739489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633064" y="3982189"/>
            <a:ext cx="3652551" cy="739489"/>
          </a:xfrm>
          <a:prstGeom prst="round1Rect">
            <a:avLst>
              <a:gd name="adj" fmla="val 26118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1925707" y="1059583"/>
            <a:ext cx="6413722" cy="310109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1925706" y="1459777"/>
            <a:ext cx="6413722" cy="310109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1925706" y="1864305"/>
            <a:ext cx="6413722" cy="310109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050" dirty="0">
              <a:latin typeface="Trebuchet MS" panose="020B0603020202020204" pitchFamily="34" charset="0"/>
              <a:sym typeface="Malgun Gothic"/>
            </a:endParaRPr>
          </a:p>
        </p:txBody>
      </p:sp>
      <p:sp>
        <p:nvSpPr>
          <p:cNvPr id="55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1927983" y="2266666"/>
            <a:ext cx="6413722" cy="310109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4F1EB7C-BD1B-44AF-9552-CC079B80FC6B}"/>
              </a:ext>
            </a:extLst>
          </p:cNvPr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AI</a:t>
            </a:r>
            <a:r>
              <a:rPr lang="ko-KR" altLang="en-US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 활용</a:t>
            </a:r>
            <a:r>
              <a:rPr lang="en-US" altLang="ko-KR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:</a:t>
            </a:r>
            <a:r>
              <a:rPr lang="ko-KR" altLang="en-US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ko-KR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Scanner </a:t>
            </a:r>
            <a:r>
              <a:rPr lang="ko-KR" altLang="en-US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선택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38924A-74F0-454F-B382-07F2647EA6EA}"/>
              </a:ext>
            </a:extLst>
          </p:cNvPr>
          <p:cNvSpPr txBox="1"/>
          <p:nvPr/>
        </p:nvSpPr>
        <p:spPr>
          <a:xfrm>
            <a:off x="629332" y="1066720"/>
            <a:ext cx="1128513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파이프라인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29D2FE-E644-4F9A-AED2-ABFA60C965EA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30442" r="5290" b="29504"/>
          <a:stretch/>
        </p:blipFill>
        <p:spPr bwMode="auto">
          <a:xfrm>
            <a:off x="6678234" y="140817"/>
            <a:ext cx="623345" cy="28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A038924A-74F0-454F-B382-07F2647EA6EA}"/>
              </a:ext>
            </a:extLst>
          </p:cNvPr>
          <p:cNvSpPr txBox="1"/>
          <p:nvPr/>
        </p:nvSpPr>
        <p:spPr>
          <a:xfrm>
            <a:off x="637592" y="2865698"/>
            <a:ext cx="160488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신뢰성 확보 방식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E6184-E6FF-4821-8DDF-2EB24ADC473E}"/>
              </a:ext>
            </a:extLst>
          </p:cNvPr>
          <p:cNvSpPr txBox="1"/>
          <p:nvPr/>
        </p:nvSpPr>
        <p:spPr>
          <a:xfrm>
            <a:off x="4855888" y="4064251"/>
            <a:ext cx="354326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후보에 없는 스캐너나 입력 지점을 요청하는 경우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</a:t>
            </a:r>
          </a:p>
          <a:p>
            <a:pPr>
              <a:lnSpc>
                <a:spcPct val="200000"/>
              </a:lnSpc>
            </a:pP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Python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검증을 통해 실행을 차단하여 검사 범위 통제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5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1941000" y="1084601"/>
            <a:ext cx="1136505" cy="281917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126;g3f70c2142d0_20_0">
            <a:extLst>
              <a:ext uri="{FF2B5EF4-FFF2-40B4-BE49-F238E27FC236}">
                <a16:creationId xmlns:a16="http://schemas.microsoft.com/office/drawing/2014/main" id="{52997438-8305-9A1D-6836-59A0CFF822BF}"/>
              </a:ext>
            </a:extLst>
          </p:cNvPr>
          <p:cNvSpPr txBox="1"/>
          <p:nvPr/>
        </p:nvSpPr>
        <p:spPr>
          <a:xfrm>
            <a:off x="1995002" y="1092562"/>
            <a:ext cx="6616733" cy="2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lvl="0">
              <a:lnSpc>
                <a:spcPct val="110000"/>
              </a:lnSpc>
              <a:buSzPts val="1900"/>
            </a:pP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입력 지점 탐색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      Python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으로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수집한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URL, HTTP Method, </a:t>
            </a:r>
            <a:r>
              <a:rPr lang="ko-KR" altLang="en-US" sz="1050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파라미터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기반으로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취약점 후보 </a:t>
            </a:r>
            <a:r>
              <a:rPr lang="ko-KR" altLang="en-US" sz="1050" b="1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필터링</a:t>
            </a:r>
            <a:endParaRPr lang="ko-KR" altLang="en-US" sz="1050" b="1" dirty="0">
              <a:solidFill>
                <a:srgbClr val="3F3F3F"/>
              </a:solidFill>
              <a:latin typeface="Trebuchet MS" panose="020B0603020202020204" pitchFamily="34" charset="0"/>
            </a:endParaRPr>
          </a:p>
        </p:txBody>
      </p:sp>
      <p:sp>
        <p:nvSpPr>
          <p:cNvPr id="41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1940999" y="1484795"/>
            <a:ext cx="1136505" cy="281917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126;g3f70c2142d0_20_0">
            <a:extLst>
              <a:ext uri="{FF2B5EF4-FFF2-40B4-BE49-F238E27FC236}">
                <a16:creationId xmlns:a16="http://schemas.microsoft.com/office/drawing/2014/main" id="{52997438-8305-9A1D-6836-59A0CFF822BF}"/>
              </a:ext>
            </a:extLst>
          </p:cNvPr>
          <p:cNvSpPr txBox="1"/>
          <p:nvPr/>
        </p:nvSpPr>
        <p:spPr>
          <a:xfrm>
            <a:off x="2004609" y="1492756"/>
            <a:ext cx="5605999" cy="2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lvl="0">
              <a:lnSpc>
                <a:spcPct val="110000"/>
              </a:lnSpc>
              <a:buSzPts val="1900"/>
            </a:pP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검사 후보 구성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   AI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에 후보 정보와 각 스캐너의 기능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·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입력 형식을 전달</a:t>
            </a:r>
            <a:endParaRPr lang="ko-KR" altLang="en-US" sz="1050" dirty="0">
              <a:solidFill>
                <a:srgbClr val="3F3F3F"/>
              </a:solidFill>
              <a:latin typeface="Trebuchet MS" panose="020B0603020202020204" pitchFamily="34" charset="0"/>
            </a:endParaRPr>
          </a:p>
        </p:txBody>
      </p:sp>
      <p:sp>
        <p:nvSpPr>
          <p:cNvPr id="43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1940999" y="1889323"/>
            <a:ext cx="1136505" cy="281917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126;g3f70c2142d0_20_0">
            <a:extLst>
              <a:ext uri="{FF2B5EF4-FFF2-40B4-BE49-F238E27FC236}">
                <a16:creationId xmlns:a16="http://schemas.microsoft.com/office/drawing/2014/main" id="{52997438-8305-9A1D-6836-59A0CFF822BF}"/>
              </a:ext>
            </a:extLst>
          </p:cNvPr>
          <p:cNvSpPr txBox="1"/>
          <p:nvPr/>
        </p:nvSpPr>
        <p:spPr>
          <a:xfrm>
            <a:off x="2004609" y="1897284"/>
            <a:ext cx="5605999" cy="2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lnSpc>
                <a:spcPct val="110000"/>
              </a:lnSpc>
              <a:buSzPts val="1900"/>
            </a:pP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의 도구 선택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	    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는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Tool Calling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을 통해 실행할 스캐너를 선택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후 입력 인자 요청</a:t>
            </a:r>
            <a:endParaRPr lang="en-US" altLang="ko-KR" sz="10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45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1943276" y="2291685"/>
            <a:ext cx="1136505" cy="281917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126;g3f70c2142d0_20_0">
            <a:extLst>
              <a:ext uri="{FF2B5EF4-FFF2-40B4-BE49-F238E27FC236}">
                <a16:creationId xmlns:a16="http://schemas.microsoft.com/office/drawing/2014/main" id="{52997438-8305-9A1D-6836-59A0CFF822BF}"/>
              </a:ext>
            </a:extLst>
          </p:cNvPr>
          <p:cNvSpPr txBox="1"/>
          <p:nvPr/>
        </p:nvSpPr>
        <p:spPr>
          <a:xfrm>
            <a:off x="2006886" y="2299645"/>
            <a:ext cx="5603722" cy="2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lvl="0">
              <a:lnSpc>
                <a:spcPct val="110000"/>
              </a:lnSpc>
              <a:buSzPts val="1900"/>
            </a:pP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함수 도구 호출      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프로그램은 요청의 유효성을 확인한 뒤 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Tool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로 등록된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스캐너 실행</a:t>
            </a:r>
            <a:endParaRPr lang="ko-KR" altLang="en-US" sz="1050" dirty="0">
              <a:solidFill>
                <a:srgbClr val="3F3F3F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931304D-5143-4E5A-9076-82539C1CAA1D}"/>
              </a:ext>
            </a:extLst>
          </p:cNvPr>
          <p:cNvCxnSpPr>
            <a:cxnSpLocks/>
          </p:cNvCxnSpPr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/>
          <a:srcRect b="41006"/>
          <a:stretch/>
        </p:blipFill>
        <p:spPr>
          <a:xfrm>
            <a:off x="637592" y="3261613"/>
            <a:ext cx="3659718" cy="731008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325" y="2807755"/>
            <a:ext cx="3729823" cy="1237689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752445" y="3976733"/>
            <a:ext cx="361694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Python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으로 입력 항목에 적합한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스캐너 후보 먼저 구성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→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AI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가 해당 후보 내에서 실행할 스캐너를 선택 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0594" y="4785996"/>
            <a:ext cx="184188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dirty="0">
                <a:latin typeface="Trebuchet MS" panose="020B0603020202020204" pitchFamily="34" charset="0"/>
              </a:rPr>
              <a:t>* openai_module.py </a:t>
            </a:r>
            <a:r>
              <a:rPr lang="ko-KR" altLang="en-US" sz="750" dirty="0">
                <a:latin typeface="Trebuchet MS" panose="020B0603020202020204" pitchFamily="34" charset="0"/>
              </a:rPr>
              <a:t>코드 일부 추출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98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4F1EB7C-BD1B-44AF-9552-CC079B80FC6B}"/>
              </a:ext>
            </a:extLst>
          </p:cNvPr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AI</a:t>
            </a:r>
            <a:r>
              <a:rPr lang="ko-KR" altLang="en-US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 활용</a:t>
            </a:r>
            <a:r>
              <a:rPr lang="en-US" altLang="ko-KR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:</a:t>
            </a:r>
            <a:r>
              <a:rPr lang="ko-KR" altLang="en-US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 취약점 분석 결과 생성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38924A-74F0-454F-B382-07F2647EA6EA}"/>
              </a:ext>
            </a:extLst>
          </p:cNvPr>
          <p:cNvSpPr txBox="1"/>
          <p:nvPr/>
        </p:nvSpPr>
        <p:spPr>
          <a:xfrm>
            <a:off x="644857" y="1059582"/>
            <a:ext cx="956813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구현 내용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29D2FE-E644-4F9A-AED2-ABFA60C965EA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56E6184-E6FF-4821-8DDF-2EB24ADC473E}"/>
              </a:ext>
            </a:extLst>
          </p:cNvPr>
          <p:cNvSpPr txBox="1"/>
          <p:nvPr/>
        </p:nvSpPr>
        <p:spPr>
          <a:xfrm>
            <a:off x="644857" y="1331354"/>
            <a:ext cx="7383527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스캐너의 판정으로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1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차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분석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을 통해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취약점 판정 근거와 대응방안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을 받아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scan-</a:t>
            </a:r>
            <a:r>
              <a:rPr lang="en-US" altLang="ko-KR" sz="1050" b="1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results.json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에 저장</a:t>
            </a:r>
            <a:endParaRPr lang="en-US" altLang="ko-KR" sz="10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2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차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분석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에서 취약 판정된 취약점만 추출해낸 정보로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총평과 공격 시나리오를 생성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해 </a:t>
            </a:r>
            <a:r>
              <a:rPr lang="en-US" altLang="ko-KR" sz="1050" b="1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analysis.json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에 저장</a:t>
            </a:r>
            <a:endParaRPr lang="en-US" altLang="ko-KR" sz="10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38924A-74F0-454F-B382-07F2647EA6EA}"/>
              </a:ext>
            </a:extLst>
          </p:cNvPr>
          <p:cNvSpPr txBox="1"/>
          <p:nvPr/>
        </p:nvSpPr>
        <p:spPr>
          <a:xfrm>
            <a:off x="643183" y="3097001"/>
            <a:ext cx="155255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신뢰성 확보 방식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E6184-E6FF-4821-8DDF-2EB24ADC473E}"/>
              </a:ext>
            </a:extLst>
          </p:cNvPr>
          <p:cNvSpPr txBox="1"/>
          <p:nvPr/>
        </p:nvSpPr>
        <p:spPr>
          <a:xfrm>
            <a:off x="650926" y="3366090"/>
            <a:ext cx="7867288" cy="13734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57175" indent="-257175">
              <a:lnSpc>
                <a:spcPct val="200000"/>
              </a:lnSpc>
              <a:buAutoNum type="arabicPeriod"/>
            </a:pP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총평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: </a:t>
            </a:r>
            <a:r>
              <a: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진단 결과 요약</a:t>
            </a:r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주요 보안 위협</a:t>
            </a:r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개선 의견을 담은 총평으로 출력하도록 구조를 </a:t>
            </a:r>
            <a:r>
              <a:rPr lang="ko-KR" altLang="en-US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일관화</a:t>
            </a:r>
            <a:endParaRPr lang="en-US" altLang="ko-KR" sz="1050" dirty="0">
              <a:solidFill>
                <a:schemeClr val="tx1">
                  <a:lumMod val="85000"/>
                  <a:lumOff val="15000"/>
                </a:schemeClr>
              </a:solidFill>
              <a:latin typeface="Trebuchet MS" panose="020B0603020202020204" pitchFamily="34" charset="0"/>
            </a:endParaRPr>
          </a:p>
          <a:p>
            <a:pPr marL="257175" indent="-257175">
              <a:lnSpc>
                <a:spcPct val="200000"/>
              </a:lnSpc>
              <a:buAutoNum type="arabicPeriod"/>
            </a:pP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공격 시나리오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Python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이 </a:t>
            </a:r>
            <a:r>
              <a:rPr lang="ko-KR" altLang="en-US" sz="105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판정별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 통계와 위험도를 계산하고</a:t>
            </a:r>
            <a:r>
              <a:rPr lang="en-US" altLang="ko-KR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확인된 취약점에 </a:t>
            </a:r>
            <a:r>
              <a:rPr lang="en-US" altLang="ko-KR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ID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를 부여함</a:t>
            </a:r>
            <a:endParaRPr lang="en-US" altLang="ko-KR" sz="1050" dirty="0">
              <a:solidFill>
                <a:schemeClr val="tx1">
                  <a:lumMod val="95000"/>
                  <a:lumOff val="5000"/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Python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이 같은 </a:t>
            </a:r>
            <a:r>
              <a:rPr lang="ko-KR" altLang="en-US" sz="105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엔드포인트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 경로를 기준으로 시나리오 후보를 구성</a:t>
            </a:r>
            <a:endParaRPr lang="en-US" altLang="ko-KR" sz="1050" dirty="0">
              <a:solidFill>
                <a:schemeClr val="tx1">
                  <a:lumMod val="95000"/>
                  <a:lumOff val="5000"/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AI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가 시나리오를 작성하면 프로그램이 근거 </a:t>
            </a:r>
            <a:r>
              <a:rPr lang="en-US" altLang="ko-KR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ID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를 검사하여 허용된 범위를 벗어나면 해당 시나리오를 제외</a:t>
            </a:r>
            <a:endParaRPr lang="en-US" altLang="ko-KR" sz="1050" dirty="0">
              <a:solidFill>
                <a:schemeClr val="tx1">
                  <a:lumMod val="95000"/>
                  <a:lumOff val="5000"/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38924A-74F0-454F-B382-07F2647EA6EA}"/>
              </a:ext>
            </a:extLst>
          </p:cNvPr>
          <p:cNvSpPr txBox="1"/>
          <p:nvPr/>
        </p:nvSpPr>
        <p:spPr>
          <a:xfrm>
            <a:off x="647182" y="2070887"/>
            <a:ext cx="165656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en-US" altLang="ko-KR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AI </a:t>
            </a:r>
            <a:r>
              <a:rPr lang="ko-KR" altLang="en-US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추론 분리 근거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6E6184-E6FF-4821-8DDF-2EB24ADC473E}"/>
              </a:ext>
            </a:extLst>
          </p:cNvPr>
          <p:cNvSpPr txBox="1"/>
          <p:nvPr/>
        </p:nvSpPr>
        <p:spPr>
          <a:xfrm>
            <a:off x="643012" y="2341165"/>
            <a:ext cx="7493384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는 개별 취약점을 보고 실제로 확인하지 않은 공격 성공이나 데이터 탈취까지 단정하는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환각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(Hallucination)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발생 가능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양호 판정된 데이터를 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2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차 추론에 사용하지 않도록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1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차 추론이 끝난 뒤 취약 판정 데이터만 추출하여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에 입력 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00594" y="4785996"/>
            <a:ext cx="1903154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dirty="0">
                <a:latin typeface="Trebuchet MS" panose="020B0603020202020204" pitchFamily="34" charset="0"/>
              </a:rPr>
              <a:t>* ai_analyzer.py </a:t>
            </a:r>
            <a:r>
              <a:rPr lang="ko-KR" altLang="en-US" sz="750" dirty="0">
                <a:latin typeface="Trebuchet MS" panose="020B0603020202020204" pitchFamily="34" charset="0"/>
              </a:rPr>
              <a:t>프롬프트 일부  추출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966" y="168965"/>
            <a:ext cx="3355085" cy="957527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133" y="3487616"/>
            <a:ext cx="2278610" cy="898298"/>
          </a:xfrm>
          <a:prstGeom prst="rect">
            <a:avLst/>
          </a:prstGeom>
        </p:spPr>
      </p:pic>
      <p:cxnSp>
        <p:nvCxnSpPr>
          <p:cNvPr id="22" name="직선 연결선 21"/>
          <p:cNvCxnSpPr/>
          <p:nvPr/>
        </p:nvCxnSpPr>
        <p:spPr>
          <a:xfrm>
            <a:off x="3699618" y="4223076"/>
            <a:ext cx="156617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32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467103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6651300" y="1989114"/>
            <a:ext cx="2025156" cy="27034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200000"/>
              </a:lnSpc>
            </a:pPr>
            <a:endParaRPr lang="ko-KR" altLang="en-US" sz="675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4F1EB7C-BD1B-44AF-9552-CC079B80FC6B}"/>
              </a:ext>
            </a:extLst>
          </p:cNvPr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AI</a:t>
            </a:r>
            <a:r>
              <a:rPr lang="ko-KR" altLang="en-US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700" b="1" dirty="0" err="1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미활용</a:t>
            </a:r>
            <a:r>
              <a:rPr lang="en-US" altLang="ko-KR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: </a:t>
            </a:r>
            <a:r>
              <a:rPr lang="ko-KR" altLang="en-US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모의해킹 보고서 생성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29D2FE-E644-4F9A-AED2-ABFA60C965EA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317" t="124" b="1"/>
          <a:stretch/>
        </p:blipFill>
        <p:spPr>
          <a:xfrm>
            <a:off x="532058" y="1989114"/>
            <a:ext cx="1902050" cy="270345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rcRect l="1648" t="1160" r="525" b="-74"/>
          <a:stretch/>
        </p:blipFill>
        <p:spPr>
          <a:xfrm>
            <a:off x="2584635" y="1989114"/>
            <a:ext cx="1880889" cy="270345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5"/>
          <a:srcRect l="1557" t="815"/>
          <a:stretch/>
        </p:blipFill>
        <p:spPr>
          <a:xfrm>
            <a:off x="4612688" y="1989114"/>
            <a:ext cx="1891448" cy="270345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56E6184-E6FF-4821-8DDF-2EB24ADC473E}"/>
              </a:ext>
            </a:extLst>
          </p:cNvPr>
          <p:cNvSpPr txBox="1"/>
          <p:nvPr/>
        </p:nvSpPr>
        <p:spPr>
          <a:xfrm>
            <a:off x="6725611" y="2002971"/>
            <a:ext cx="2040940" cy="2562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25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    [</a:t>
            </a:r>
            <a:r>
              <a:rPr lang="ko-KR" altLang="en-US" sz="825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보고서 추가 내용 및 설정 정보</a:t>
            </a:r>
            <a:r>
              <a:rPr lang="en-US" altLang="ko-KR" sz="825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]</a:t>
            </a:r>
          </a:p>
          <a:p>
            <a:pPr marL="128588" indent="-128588">
              <a:lnSpc>
                <a:spcPct val="200000"/>
              </a:lnSpc>
              <a:buFontTx/>
              <a:buChar char="-"/>
            </a:pP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자동화 검사 툴 이용 시 주의사항 추가</a:t>
            </a:r>
            <a:endParaRPr lang="en-US" altLang="ko-KR" sz="7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128588" indent="-128588">
              <a:lnSpc>
                <a:spcPct val="200000"/>
              </a:lnSpc>
              <a:buFontTx/>
              <a:buChar char="-"/>
            </a:pP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판단 기준 및 해석 시 주의사항 추가</a:t>
            </a:r>
            <a:endParaRPr lang="en-US" altLang="ko-KR" sz="7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128588" indent="-128588">
              <a:lnSpc>
                <a:spcPct val="200000"/>
              </a:lnSpc>
              <a:buFontTx/>
              <a:buChar char="-"/>
            </a:pP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통계</a:t>
            </a:r>
            <a:r>
              <a:rPr lang="en-US" altLang="ko-KR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표</a:t>
            </a:r>
            <a:r>
              <a:rPr lang="en-US" altLang="ko-KR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주의사항 등 문서 배치는</a:t>
            </a:r>
            <a:br>
              <a:rPr lang="en-US" altLang="ko-KR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</a:br>
            <a:r>
              <a:rPr lang="en-US" altLang="ko-KR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Python</a:t>
            </a: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으로 일관되게 작성</a:t>
            </a:r>
            <a:endParaRPr lang="en-US" altLang="ko-KR" sz="7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128588" indent="-128588">
              <a:lnSpc>
                <a:spcPct val="200000"/>
              </a:lnSpc>
              <a:buFontTx/>
              <a:buChar char="-"/>
            </a:pP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공식 진단 기준은 원문에서 검색해</a:t>
            </a:r>
            <a:br>
              <a:rPr lang="en-US" altLang="ko-KR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</a:b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출처와 함께 제공</a:t>
            </a:r>
            <a:endParaRPr lang="en-US" altLang="ko-KR" sz="7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128588" indent="-128588">
              <a:lnSpc>
                <a:spcPct val="200000"/>
              </a:lnSpc>
              <a:buFontTx/>
              <a:buChar char="-"/>
            </a:pPr>
            <a:r>
              <a:rPr lang="en-US" altLang="ko-KR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2026</a:t>
            </a: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주요정보통신기반시설 </a:t>
            </a:r>
            <a:r>
              <a:rPr lang="ko-KR" altLang="en-US" sz="750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상세가이드</a:t>
            </a:r>
            <a:br>
              <a:rPr lang="en-US" altLang="ko-KR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</a:b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웹 분야인 </a:t>
            </a:r>
            <a:r>
              <a:rPr lang="en-US" altLang="ko-KR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676~786 </a:t>
            </a: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페이지 추출</a:t>
            </a:r>
            <a:endParaRPr lang="en-US" altLang="ko-KR" sz="7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128588" indent="-128588">
              <a:lnSpc>
                <a:spcPct val="200000"/>
              </a:lnSpc>
              <a:buFontTx/>
              <a:buChar char="-"/>
            </a:pP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시연 시</a:t>
            </a:r>
            <a:r>
              <a:rPr lang="en-US" altLang="ko-KR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</a:t>
            </a: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총 </a:t>
            </a:r>
            <a:r>
              <a:rPr lang="en-US" altLang="ko-KR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39</a:t>
            </a: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페이지의 모의해킹 보고서</a:t>
            </a:r>
            <a:r>
              <a:rPr lang="en-US" altLang="ko-KR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생성되었음</a:t>
            </a:r>
            <a:endParaRPr lang="en-US" altLang="ko-KR" sz="825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6E6184-E6FF-4821-8DDF-2EB24ADC473E}"/>
              </a:ext>
            </a:extLst>
          </p:cNvPr>
          <p:cNvSpPr txBox="1"/>
          <p:nvPr/>
        </p:nvSpPr>
        <p:spPr>
          <a:xfrm>
            <a:off x="607303" y="923699"/>
            <a:ext cx="8187587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RAG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를 활용한 모의해킹 보고서 생성을 기획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하였으나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기존 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분석에 충분한 정보가 포함되어있어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추가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호출 없이 정보 재사용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상세가이드의 웹 분야를 </a:t>
            </a:r>
            <a:r>
              <a:rPr lang="en-US" altLang="ko-KR" sz="1050" b="1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pypdf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로 추출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하고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BM25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검색으로 관련 판단 기준과 조치 방법을 찾아 검사 결과에 연결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함</a:t>
            </a:r>
            <a:endParaRPr lang="en-US" altLang="ko-KR" sz="10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이후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생성 시마다 구조가 일관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되도록 내용을 구성하여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‘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공식 지침 검색 기반 보고서 생성 방식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’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으로 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PDF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보고서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생성</a:t>
            </a:r>
            <a:endParaRPr lang="en-US" altLang="ko-KR" sz="10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00594" y="4785996"/>
            <a:ext cx="309128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dirty="0">
                <a:latin typeface="Trebuchet MS" panose="020B0603020202020204" pitchFamily="34" charset="0"/>
              </a:rPr>
              <a:t>* </a:t>
            </a:r>
            <a:r>
              <a:rPr lang="ko-KR" altLang="en-US" sz="750" dirty="0">
                <a:latin typeface="Trebuchet MS" panose="020B0603020202020204" pitchFamily="34" charset="0"/>
              </a:rPr>
              <a:t>참고 문서</a:t>
            </a:r>
            <a:r>
              <a:rPr lang="en-US" altLang="ko-KR" sz="750" dirty="0">
                <a:latin typeface="Trebuchet MS" panose="020B0603020202020204" pitchFamily="34" charset="0"/>
              </a:rPr>
              <a:t>: </a:t>
            </a:r>
            <a:r>
              <a:rPr lang="en-US" altLang="ko-KR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2026</a:t>
            </a: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년 주요정보통신기반시설 </a:t>
            </a:r>
            <a:r>
              <a:rPr lang="ko-KR" altLang="en-US" sz="750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상세가이드</a:t>
            </a:r>
            <a:endParaRPr lang="ko-KR" altLang="en-US" sz="750" dirty="0">
              <a:latin typeface="Trebuchet MS" panose="020B0603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32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3" name="Google Shape;1539;p44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6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563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9" name="Google Shape;1199;p32"/>
          <p:cNvCxnSpPr/>
          <p:nvPr/>
        </p:nvCxnSpPr>
        <p:spPr>
          <a:xfrm>
            <a:off x="270030" y="268002"/>
            <a:ext cx="462529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00" name="Google Shape;1200;p32"/>
          <p:cNvCxnSpPr/>
          <p:nvPr/>
        </p:nvCxnSpPr>
        <p:spPr>
          <a:xfrm rot="5400000">
            <a:off x="-476799" y="1014831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01" name="Google Shape;1201;p32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1202" name="Google Shape;1202;p32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3" name="Google Shape;1203;p32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204" name="Google Shape;1204;p32"/>
          <p:cNvCxnSpPr/>
          <p:nvPr/>
        </p:nvCxnSpPr>
        <p:spPr>
          <a:xfrm rot="-5400000">
            <a:off x="-476800" y="4128669"/>
            <a:ext cx="149366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05" name="Google Shape;1205;p32"/>
          <p:cNvCxnSpPr/>
          <p:nvPr/>
        </p:nvCxnSpPr>
        <p:spPr>
          <a:xfrm>
            <a:off x="3825171" y="4875499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06" name="Google Shape;1206;p32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207" name="Google Shape;1207;p32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8" name="Google Shape;1208;p32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09" name="Google Shape;1209;p32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210" name="Google Shape;1210;p32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1" name="Google Shape;1211;p32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12" name="Google Shape;1212;p32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1213" name="Google Shape;1213;p32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4" name="Google Shape;1214;p32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215" name="Google Shape;1215;p32"/>
          <p:cNvSpPr txBox="1"/>
          <p:nvPr/>
        </p:nvSpPr>
        <p:spPr>
          <a:xfrm>
            <a:off x="851838" y="2365259"/>
            <a:ext cx="747308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대시보드 및 시연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4440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29D2FE-E644-4F9A-AED2-ABFA60C965EA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1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30442" r="5290" b="29504"/>
          <a:stretch/>
        </p:blipFill>
        <p:spPr bwMode="auto">
          <a:xfrm>
            <a:off x="6702289" y="142570"/>
            <a:ext cx="623345" cy="28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_title"/>
          <p:cNvSpPr txBox="1"/>
          <p:nvPr/>
        </p:nvSpPr>
        <p:spPr>
          <a:xfrm>
            <a:off x="511422" y="442500"/>
            <a:ext cx="7650000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ko-KR" altLang="en-US" sz="27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대시보드 : 9종 스캐너 결과 통합</a:t>
            </a:r>
          </a:p>
        </p:txBody>
      </p:sp>
      <p:sp>
        <p:nvSpPr>
          <p:cNvPr id="61" name="t_label"/>
          <p:cNvSpPr txBox="1"/>
          <p:nvPr/>
        </p:nvSpPr>
        <p:spPr>
          <a:xfrm>
            <a:off x="791580" y="993750"/>
            <a:ext cx="555000" cy="240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27000" tIns="13500" rIns="27000" bIns="13500" rtlCol="0" anchor="ctr"/>
          <a:lstStyle/>
          <a:p>
            <a:pPr algn="ctr"/>
            <a:r>
              <a:rPr lang="ko-KR" altLang="en-US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통합</a:t>
            </a:r>
          </a:p>
        </p:txBody>
      </p:sp>
      <p:sp>
        <p:nvSpPr>
          <p:cNvPr id="62" name="t_body"/>
          <p:cNvSpPr txBox="1"/>
          <p:nvPr/>
        </p:nvSpPr>
        <p:spPr>
          <a:xfrm>
            <a:off x="737574" y="1410000"/>
            <a:ext cx="2437500" cy="24375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9종 스캐너가 서로 다른 형식의 JSON을 반환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공통 스키마(URL</a:t>
            </a:r>
            <a:r>
              <a:rPr lang="en-US" altLang="ko-KR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메서드</a:t>
            </a:r>
            <a:r>
              <a:rPr lang="en-US" altLang="ko-KR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스캐너</a:t>
            </a:r>
            <a:r>
              <a:rPr lang="en-US" altLang="ko-KR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판정</a:t>
            </a:r>
            <a:r>
              <a:rPr lang="en-US" altLang="ko-KR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근거)로 정규화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심각도를 CRITICAL~INFO 5단계로 통일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통합 데이터에서 요약 지표·Severity 분포 자동 집계</a:t>
            </a:r>
          </a:p>
        </p:txBody>
      </p:sp>
      <p:sp>
        <p:nvSpPr>
          <p:cNvPr id="63" name="t_shot"/>
          <p:cNvSpPr/>
          <p:nvPr/>
        </p:nvSpPr>
        <p:spPr>
          <a:xfrm>
            <a:off x="3420000" y="1410000"/>
            <a:ext cx="4987500" cy="2437500"/>
          </a:xfrm>
          <a:prstGeom prst="roundRect">
            <a:avLst>
              <a:gd name="adj" fmla="val 2800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ko-KR" altLang="en-US" sz="1200" b="1" dirty="0">
                <a:solidFill>
                  <a:schemeClr val="tx1">
                    <a:alpha val="55000"/>
                  </a:schemeClr>
                </a:solidFill>
                <a:latin typeface="Trebuchet MS" panose="020B0603020202020204" pitchFamily="34" charset="0"/>
                <a:ea typeface="맑은 고딕"/>
              </a:rPr>
              <a:t>[ 화면 캡처 ]   Overview 탭</a:t>
            </a:r>
          </a:p>
        </p:txBody>
      </p:sp>
      <p:sp>
        <p:nvSpPr>
          <p:cNvPr id="64" name="t_cap"/>
          <p:cNvSpPr txBox="1"/>
          <p:nvPr/>
        </p:nvSpPr>
        <p:spPr>
          <a:xfrm>
            <a:off x="737574" y="3930000"/>
            <a:ext cx="2437500" cy="540000"/>
          </a:xfrm>
          <a:prstGeom prst="roundRect">
            <a:avLst>
              <a:gd name="adj" fmla="val 12000"/>
            </a:avLst>
          </a:prstGeom>
          <a:solidFill>
            <a:srgbClr val="E6F6F2"/>
          </a:solidFill>
        </p:spPr>
        <p:txBody>
          <a:bodyPr wrap="square" lIns="67500" tIns="27000" rIns="67500" bIns="27000" rtlCol="0" anchor="ctr"/>
          <a:lstStyle/>
          <a:p>
            <a:pPr algn="l"/>
            <a:r>
              <a:rPr lang="ko-KR" altLang="en-US" sz="938" b="1" dirty="0">
                <a:solidFill>
                  <a:srgbClr val="0F6E56"/>
                </a:solidFill>
                <a:latin typeface="Trebuchet MS" panose="020B0603020202020204" pitchFamily="34" charset="0"/>
                <a:ea typeface="맑은 고딕"/>
              </a:rPr>
              <a:t>서로 다른 9종 도구의 결과를 하나의 기준으로 통합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2C571FF-6A2A-3DB9-31FA-04AF87A34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890" y="1410000"/>
            <a:ext cx="4987500" cy="2610821"/>
          </a:xfrm>
          <a:prstGeom prst="rect">
            <a:avLst/>
          </a:prstGeom>
        </p:spPr>
      </p:pic>
      <p:cxnSp>
        <p:nvCxnSpPr>
          <p:cNvPr id="27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251601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29D2FE-E644-4F9A-AED2-ABFA60C965EA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1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30442" r="5290" b="29504"/>
          <a:stretch/>
        </p:blipFill>
        <p:spPr bwMode="auto">
          <a:xfrm>
            <a:off x="6702289" y="142570"/>
            <a:ext cx="623345" cy="28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_title"/>
          <p:cNvSpPr txBox="1"/>
          <p:nvPr/>
        </p:nvSpPr>
        <p:spPr>
          <a:xfrm>
            <a:off x="511422" y="442500"/>
            <a:ext cx="7650000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ko-KR" altLang="en-US" sz="27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대시보드 : 상세 진단 결과 (Findings)</a:t>
            </a:r>
          </a:p>
        </p:txBody>
      </p:sp>
      <p:sp>
        <p:nvSpPr>
          <p:cNvPr id="61" name="t_label"/>
          <p:cNvSpPr txBox="1"/>
          <p:nvPr/>
        </p:nvSpPr>
        <p:spPr>
          <a:xfrm>
            <a:off x="791580" y="993750"/>
            <a:ext cx="900000" cy="240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27000" tIns="13500" rIns="27000" bIns="13500" rtlCol="0" anchor="ctr"/>
          <a:lstStyle/>
          <a:p>
            <a:pPr algn="ctr"/>
            <a:r>
              <a:rPr lang="en-US" altLang="ko-KR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Findings</a:t>
            </a:r>
          </a:p>
        </p:txBody>
      </p:sp>
      <p:sp>
        <p:nvSpPr>
          <p:cNvPr id="62" name="t_body"/>
          <p:cNvSpPr txBox="1"/>
          <p:nvPr/>
        </p:nvSpPr>
        <p:spPr>
          <a:xfrm>
            <a:off x="737574" y="1410000"/>
            <a:ext cx="2437500" cy="24375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전체 점검 결과를 심각도·스캐너별로 필터링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선택 항목의 근거(payload·응답)와 대응방안 열람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스캐너별 고유 증거 형식을 그대로 표시</a:t>
            </a:r>
          </a:p>
        </p:txBody>
      </p:sp>
      <p:sp>
        <p:nvSpPr>
          <p:cNvPr id="63" name="t_shot"/>
          <p:cNvSpPr/>
          <p:nvPr/>
        </p:nvSpPr>
        <p:spPr>
          <a:xfrm>
            <a:off x="3420000" y="1410000"/>
            <a:ext cx="4987500" cy="2437500"/>
          </a:xfrm>
          <a:prstGeom prst="roundRect">
            <a:avLst>
              <a:gd name="adj" fmla="val 2800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ko-KR" altLang="en-US" sz="1200" b="1" dirty="0">
                <a:solidFill>
                  <a:schemeClr val="tx1">
                    <a:alpha val="55000"/>
                  </a:schemeClr>
                </a:solidFill>
                <a:latin typeface="Trebuchet MS" panose="020B0603020202020204" pitchFamily="34" charset="0"/>
                <a:ea typeface="맑은 고딕"/>
              </a:rPr>
              <a:t>[ 화면 캡처 ]   Findings 탭</a:t>
            </a:r>
          </a:p>
        </p:txBody>
      </p:sp>
      <p:sp>
        <p:nvSpPr>
          <p:cNvPr id="64" name="t_cap"/>
          <p:cNvSpPr txBox="1"/>
          <p:nvPr/>
        </p:nvSpPr>
        <p:spPr>
          <a:xfrm>
            <a:off x="737574" y="3930000"/>
            <a:ext cx="2437500" cy="540000"/>
          </a:xfrm>
          <a:prstGeom prst="roundRect">
            <a:avLst>
              <a:gd name="adj" fmla="val 12000"/>
            </a:avLst>
          </a:prstGeom>
          <a:solidFill>
            <a:srgbClr val="E6F6F2"/>
          </a:solidFill>
        </p:spPr>
        <p:txBody>
          <a:bodyPr wrap="square" lIns="67500" tIns="27000" rIns="67500" bIns="27000" rtlCol="0" anchor="ctr"/>
          <a:lstStyle/>
          <a:p>
            <a:pPr algn="l"/>
            <a:r>
              <a:rPr lang="ko-KR" altLang="en-US" sz="938" b="1" dirty="0">
                <a:solidFill>
                  <a:srgbClr val="0F6E56"/>
                </a:solidFill>
                <a:latin typeface="Trebuchet MS" panose="020B0603020202020204" pitchFamily="34" charset="0"/>
                <a:ea typeface="맑은 고딕"/>
              </a:rPr>
              <a:t>모든 점검 결과를 한 곳에서 필터링하고 근거까지 확인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FD7C9FD-AD6B-11C0-D9D6-91FF5744A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031" y="1410000"/>
            <a:ext cx="5183155" cy="2437500"/>
          </a:xfrm>
          <a:prstGeom prst="rect">
            <a:avLst/>
          </a:prstGeom>
        </p:spPr>
      </p:pic>
      <p:cxnSp>
        <p:nvCxnSpPr>
          <p:cNvPr id="26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752598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33B4A-69FE-2FDB-CF50-02DBB21B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67B47DA-1E27-5D6E-EEC3-979FE7D46459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0AEA8C5-74A6-4E29-EFE7-E0036B7928F8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DB5D04F-A022-4057-8F86-1471CC5F0071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9D5E52F-D0A4-62A0-AA13-09FDA3CCE468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8D36530-9E46-4148-2E49-8AA916C855D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1E907F0-BAD2-0441-2D7F-18C32B80A03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6F9D412-5DB5-5CC6-C341-38717B5CBD00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6766E25-7BFD-0107-7A61-BB4B21557B1A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0CEA1291-23A6-26DA-93F0-83534955C11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7DAC20A-E03C-2A4E-C895-E9ED84E85DBB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44709A29-47E0-1B17-3EDD-DA0D3790E187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1D03ABC-2CD0-DC58-7962-D8010BC541D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0C1FF7B5-FAD4-7FA3-6BEC-84FDA8879EB9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8994B4D4-EA8A-5AF9-84E3-6D45375439F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A7ADC29E-1BB4-EA98-5222-6E80E98251F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7E25D04-2D58-4781-808A-A5E259A8FF47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9CB506-C4EC-6E6A-39BF-ACAF40AF4F1D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1" name="Picture 2" descr="SK쉴더스 Rookies [지능형 애플리케이션 개발자 양성과정 3기] 수료 후기 (25.04.01~25.09.25)">
            <a:extLst>
              <a:ext uri="{FF2B5EF4-FFF2-40B4-BE49-F238E27FC236}">
                <a16:creationId xmlns:a16="http://schemas.microsoft.com/office/drawing/2014/main" id="{51761C8F-07BB-6AD3-922A-043AEA9F2F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30442" r="5290" b="29504"/>
          <a:stretch/>
        </p:blipFill>
        <p:spPr bwMode="auto">
          <a:xfrm>
            <a:off x="6702289" y="142570"/>
            <a:ext cx="623345" cy="28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_title">
            <a:extLst>
              <a:ext uri="{FF2B5EF4-FFF2-40B4-BE49-F238E27FC236}">
                <a16:creationId xmlns:a16="http://schemas.microsoft.com/office/drawing/2014/main" id="{617FD9F5-0DBB-5A68-C54A-3B16E91B6929}"/>
              </a:ext>
            </a:extLst>
          </p:cNvPr>
          <p:cNvSpPr txBox="1"/>
          <p:nvPr/>
        </p:nvSpPr>
        <p:spPr>
          <a:xfrm>
            <a:off x="511422" y="442500"/>
            <a:ext cx="7650000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ko-KR" altLang="en-US" sz="27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대시보드 : 상세 진단 결과 (Findings)</a:t>
            </a:r>
          </a:p>
        </p:txBody>
      </p:sp>
      <p:sp>
        <p:nvSpPr>
          <p:cNvPr id="61" name="t_label">
            <a:extLst>
              <a:ext uri="{FF2B5EF4-FFF2-40B4-BE49-F238E27FC236}">
                <a16:creationId xmlns:a16="http://schemas.microsoft.com/office/drawing/2014/main" id="{88FBC6EE-9474-1B5A-D113-3FD31F87FB69}"/>
              </a:ext>
            </a:extLst>
          </p:cNvPr>
          <p:cNvSpPr txBox="1"/>
          <p:nvPr/>
        </p:nvSpPr>
        <p:spPr>
          <a:xfrm>
            <a:off x="791580" y="993750"/>
            <a:ext cx="900000" cy="240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27000" tIns="13500" rIns="27000" bIns="13500" rtlCol="0" anchor="ctr"/>
          <a:lstStyle/>
          <a:p>
            <a:pPr algn="ctr"/>
            <a:r>
              <a:rPr lang="en-US" altLang="ko-KR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Findings</a:t>
            </a:r>
          </a:p>
        </p:txBody>
      </p:sp>
      <p:sp>
        <p:nvSpPr>
          <p:cNvPr id="62" name="t_body">
            <a:extLst>
              <a:ext uri="{FF2B5EF4-FFF2-40B4-BE49-F238E27FC236}">
                <a16:creationId xmlns:a16="http://schemas.microsoft.com/office/drawing/2014/main" id="{28B10AED-40CB-4012-D6FB-BA926A2D7B37}"/>
              </a:ext>
            </a:extLst>
          </p:cNvPr>
          <p:cNvSpPr txBox="1"/>
          <p:nvPr/>
        </p:nvSpPr>
        <p:spPr>
          <a:xfrm>
            <a:off x="737574" y="1410000"/>
            <a:ext cx="2437500" cy="24375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전체 점검 결과를 심각도·스캐너별로 필터링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선택 항목의 근거(payload·응답)와 대응방안 열람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스캐너별 고유 증거 형식을 그대로 표시</a:t>
            </a:r>
          </a:p>
        </p:txBody>
      </p:sp>
      <p:sp>
        <p:nvSpPr>
          <p:cNvPr id="63" name="t_shot">
            <a:extLst>
              <a:ext uri="{FF2B5EF4-FFF2-40B4-BE49-F238E27FC236}">
                <a16:creationId xmlns:a16="http://schemas.microsoft.com/office/drawing/2014/main" id="{A4205086-5A56-51DE-336E-5D80AF0623E2}"/>
              </a:ext>
            </a:extLst>
          </p:cNvPr>
          <p:cNvSpPr/>
          <p:nvPr/>
        </p:nvSpPr>
        <p:spPr>
          <a:xfrm>
            <a:off x="3420000" y="1410000"/>
            <a:ext cx="4987500" cy="2437500"/>
          </a:xfrm>
          <a:prstGeom prst="roundRect">
            <a:avLst>
              <a:gd name="adj" fmla="val 2800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ko-KR" altLang="en-US" sz="1200" b="1" dirty="0">
                <a:solidFill>
                  <a:schemeClr val="tx1">
                    <a:alpha val="55000"/>
                  </a:schemeClr>
                </a:solidFill>
                <a:latin typeface="Trebuchet MS" panose="020B0603020202020204" pitchFamily="34" charset="0"/>
                <a:ea typeface="맑은 고딕"/>
              </a:rPr>
              <a:t>[ 화면 캡처 ]   Findings 탭</a:t>
            </a:r>
          </a:p>
        </p:txBody>
      </p:sp>
      <p:sp>
        <p:nvSpPr>
          <p:cNvPr id="64" name="t_cap">
            <a:extLst>
              <a:ext uri="{FF2B5EF4-FFF2-40B4-BE49-F238E27FC236}">
                <a16:creationId xmlns:a16="http://schemas.microsoft.com/office/drawing/2014/main" id="{BFA28431-8BC9-DC64-FABF-7C7FDBCFA549}"/>
              </a:ext>
            </a:extLst>
          </p:cNvPr>
          <p:cNvSpPr txBox="1"/>
          <p:nvPr/>
        </p:nvSpPr>
        <p:spPr>
          <a:xfrm>
            <a:off x="737574" y="3930000"/>
            <a:ext cx="2437500" cy="540000"/>
          </a:xfrm>
          <a:prstGeom prst="roundRect">
            <a:avLst>
              <a:gd name="adj" fmla="val 12000"/>
            </a:avLst>
          </a:prstGeom>
          <a:solidFill>
            <a:srgbClr val="E6F6F2"/>
          </a:solidFill>
        </p:spPr>
        <p:txBody>
          <a:bodyPr wrap="square" lIns="67500" tIns="27000" rIns="67500" bIns="27000" rtlCol="0" anchor="ctr"/>
          <a:lstStyle/>
          <a:p>
            <a:pPr algn="l"/>
            <a:r>
              <a:rPr lang="ko-KR" altLang="en-US" sz="938" b="1" dirty="0">
                <a:solidFill>
                  <a:srgbClr val="0F6E56"/>
                </a:solidFill>
                <a:latin typeface="Trebuchet MS" panose="020B0603020202020204" pitchFamily="34" charset="0"/>
                <a:ea typeface="맑은 고딕"/>
              </a:rPr>
              <a:t>모든 점검 결과를 한 곳에서 필터링하고 근거까지 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CB6926-60DE-C359-9745-EB4B47B70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202" y="1397546"/>
            <a:ext cx="5041097" cy="2783683"/>
          </a:xfrm>
          <a:prstGeom prst="rect">
            <a:avLst/>
          </a:prstGeom>
        </p:spPr>
      </p:pic>
      <p:cxnSp>
        <p:nvCxnSpPr>
          <p:cNvPr id="26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414995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29D2FE-E644-4F9A-AED2-ABFA60C965EA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1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30442" r="5290" b="29504"/>
          <a:stretch/>
        </p:blipFill>
        <p:spPr bwMode="auto">
          <a:xfrm>
            <a:off x="6702289" y="142570"/>
            <a:ext cx="623345" cy="28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_title"/>
          <p:cNvSpPr txBox="1"/>
          <p:nvPr/>
        </p:nvSpPr>
        <p:spPr>
          <a:xfrm>
            <a:off x="511422" y="442500"/>
            <a:ext cx="7650000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ko-KR" altLang="en-US" sz="27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대시보드 : </a:t>
            </a:r>
            <a:r>
              <a:rPr lang="ko-KR" altLang="en-US" sz="2700" b="1" dirty="0" err="1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Review</a:t>
            </a:r>
            <a:r>
              <a:rPr lang="ko-KR" altLang="en-US" sz="270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2700" b="1" dirty="0" err="1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Queue</a:t>
            </a:r>
            <a:endParaRPr lang="ko-KR" altLang="en-US" sz="2700" b="1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1" name="t_label"/>
          <p:cNvSpPr txBox="1"/>
          <p:nvPr/>
        </p:nvSpPr>
        <p:spPr>
          <a:xfrm>
            <a:off x="791580" y="993750"/>
            <a:ext cx="555000" cy="240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27000" tIns="13500" rIns="27000" bIns="13500" rtlCol="0" anchor="ctr"/>
          <a:lstStyle/>
          <a:p>
            <a:pPr algn="ctr"/>
            <a:r>
              <a:rPr lang="ko-KR" altLang="en-US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판정</a:t>
            </a:r>
          </a:p>
        </p:txBody>
      </p:sp>
      <p:sp>
        <p:nvSpPr>
          <p:cNvPr id="62" name="t_body"/>
          <p:cNvSpPr txBox="1"/>
          <p:nvPr/>
        </p:nvSpPr>
        <p:spPr>
          <a:xfrm>
            <a:off x="737574" y="1410000"/>
            <a:ext cx="2437500" cy="24375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판정을 VULNERABLE · PASS · REVIEW 3단계로 구분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 err="1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미검증</a:t>
            </a: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(REVIEW)은 숨기지 않고 Review Queue로 분리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스캐너별 미검증 원인과 추가 확인 항목까지 안내</a:t>
            </a:r>
          </a:p>
        </p:txBody>
      </p:sp>
      <p:sp>
        <p:nvSpPr>
          <p:cNvPr id="63" name="t_shot"/>
          <p:cNvSpPr/>
          <p:nvPr/>
        </p:nvSpPr>
        <p:spPr>
          <a:xfrm>
            <a:off x="3420000" y="1410000"/>
            <a:ext cx="4987500" cy="2437500"/>
          </a:xfrm>
          <a:prstGeom prst="roundRect">
            <a:avLst>
              <a:gd name="adj" fmla="val 2800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ko-KR" altLang="en-US" sz="1200" b="1" dirty="0">
                <a:solidFill>
                  <a:schemeClr val="tx1">
                    <a:alpha val="55000"/>
                  </a:schemeClr>
                </a:solidFill>
                <a:latin typeface="Trebuchet MS" panose="020B0603020202020204" pitchFamily="34" charset="0"/>
                <a:ea typeface="맑은 고딕"/>
              </a:rPr>
              <a:t>[ 화면 캡처 ]   Findings · Review Queue</a:t>
            </a:r>
          </a:p>
        </p:txBody>
      </p:sp>
      <p:sp>
        <p:nvSpPr>
          <p:cNvPr id="64" name="t_cap"/>
          <p:cNvSpPr txBox="1"/>
          <p:nvPr/>
        </p:nvSpPr>
        <p:spPr>
          <a:xfrm>
            <a:off x="737574" y="3930000"/>
            <a:ext cx="2437500" cy="540000"/>
          </a:xfrm>
          <a:prstGeom prst="roundRect">
            <a:avLst>
              <a:gd name="adj" fmla="val 12000"/>
            </a:avLst>
          </a:prstGeom>
          <a:solidFill>
            <a:srgbClr val="E6F6F2"/>
          </a:solidFill>
        </p:spPr>
        <p:txBody>
          <a:bodyPr wrap="square" lIns="67500" tIns="27000" rIns="67500" bIns="27000" rtlCol="0" anchor="ctr"/>
          <a:lstStyle/>
          <a:p>
            <a:pPr algn="l"/>
            <a:r>
              <a:rPr lang="ko-KR" altLang="en-US" sz="938" b="1" dirty="0">
                <a:solidFill>
                  <a:srgbClr val="0F6E56"/>
                </a:solidFill>
                <a:latin typeface="Trebuchet MS" panose="020B0603020202020204" pitchFamily="34" charset="0"/>
                <a:ea typeface="맑은 고딕"/>
              </a:rPr>
              <a:t>점검하지 못한 항목을 '양호'로 묻지 않는다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62CD8B0-521D-3C5B-BB0D-66E34386F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000" y="1410000"/>
            <a:ext cx="5108173" cy="2949790"/>
          </a:xfrm>
          <a:prstGeom prst="rect">
            <a:avLst/>
          </a:prstGeom>
        </p:spPr>
      </p:pic>
      <p:cxnSp>
        <p:nvCxnSpPr>
          <p:cNvPr id="26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2136168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29D2FE-E644-4F9A-AED2-ABFA60C965EA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1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30442" r="5290" b="29504"/>
          <a:stretch/>
        </p:blipFill>
        <p:spPr bwMode="auto">
          <a:xfrm>
            <a:off x="6702289" y="142570"/>
            <a:ext cx="623345" cy="28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_title"/>
          <p:cNvSpPr txBox="1"/>
          <p:nvPr/>
        </p:nvSpPr>
        <p:spPr>
          <a:xfrm>
            <a:off x="511422" y="442500"/>
            <a:ext cx="7650000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ko-KR" altLang="en-US" sz="27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대시보드 : AI 종합 분석 (탐지와 해석 분리)</a:t>
            </a:r>
          </a:p>
        </p:txBody>
      </p:sp>
      <p:sp>
        <p:nvSpPr>
          <p:cNvPr id="61" name="t_label"/>
          <p:cNvSpPr txBox="1"/>
          <p:nvPr/>
        </p:nvSpPr>
        <p:spPr>
          <a:xfrm>
            <a:off x="791580" y="993750"/>
            <a:ext cx="555000" cy="240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27000" tIns="13500" rIns="27000" bIns="13500" rtlCol="0" anchor="ctr"/>
          <a:lstStyle/>
          <a:p>
            <a:pPr algn="ctr"/>
            <a:r>
              <a:rPr lang="ko-KR" altLang="en-US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분석</a:t>
            </a:r>
          </a:p>
        </p:txBody>
      </p:sp>
      <p:sp>
        <p:nvSpPr>
          <p:cNvPr id="62" name="t_body"/>
          <p:cNvSpPr txBox="1"/>
          <p:nvPr/>
        </p:nvSpPr>
        <p:spPr>
          <a:xfrm>
            <a:off x="737574" y="1410000"/>
            <a:ext cx="2437500" cy="24375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탐지·판정은 코드 스캐너가 수행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AI는 확정된 결과만 받아 종합 위험 평가 생성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여러 취약점을 엮은 공격 시나리오 제시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근거(evidence)와 가정을 구분해 표시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세션 쿠키·토큰 등 민감정보는 마스킹 후 전달</a:t>
            </a:r>
          </a:p>
        </p:txBody>
      </p:sp>
      <p:sp>
        <p:nvSpPr>
          <p:cNvPr id="63" name="t_shot"/>
          <p:cNvSpPr/>
          <p:nvPr/>
        </p:nvSpPr>
        <p:spPr>
          <a:xfrm>
            <a:off x="3420000" y="1410000"/>
            <a:ext cx="4987500" cy="2437500"/>
          </a:xfrm>
          <a:prstGeom prst="roundRect">
            <a:avLst>
              <a:gd name="adj" fmla="val 2800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ko-KR" altLang="en-US" sz="1200" b="1" dirty="0">
                <a:solidFill>
                  <a:schemeClr val="tx1">
                    <a:alpha val="55000"/>
                  </a:schemeClr>
                </a:solidFill>
                <a:latin typeface="Trebuchet MS" panose="020B0603020202020204" pitchFamily="34" charset="0"/>
                <a:ea typeface="맑은 고딕"/>
              </a:rPr>
              <a:t>[ 화면 캡처 ]   종합 평가 · Attack Scenario</a:t>
            </a:r>
          </a:p>
        </p:txBody>
      </p:sp>
      <p:sp>
        <p:nvSpPr>
          <p:cNvPr id="64" name="t_cap"/>
          <p:cNvSpPr txBox="1"/>
          <p:nvPr/>
        </p:nvSpPr>
        <p:spPr>
          <a:xfrm>
            <a:off x="737574" y="3930000"/>
            <a:ext cx="2437500" cy="540000"/>
          </a:xfrm>
          <a:prstGeom prst="roundRect">
            <a:avLst>
              <a:gd name="adj" fmla="val 12000"/>
            </a:avLst>
          </a:prstGeom>
          <a:solidFill>
            <a:srgbClr val="E6F6F2"/>
          </a:solidFill>
        </p:spPr>
        <p:txBody>
          <a:bodyPr wrap="square" lIns="67500" tIns="27000" rIns="67500" bIns="27000" rtlCol="0" anchor="ctr"/>
          <a:lstStyle/>
          <a:p>
            <a:pPr algn="l"/>
            <a:r>
              <a:rPr lang="ko-KR" altLang="en-US" sz="938" b="1" dirty="0">
                <a:solidFill>
                  <a:srgbClr val="0F6E56"/>
                </a:solidFill>
                <a:latin typeface="Trebuchet MS" panose="020B0603020202020204" pitchFamily="34" charset="0"/>
                <a:ea typeface="맑은 고딕"/>
              </a:rPr>
              <a:t>AI는 판정하지 않고 '해석'한다 — 환각을 막는 역할 분리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8BE801-4301-1FE6-0FE3-78D54359B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134" y="1410000"/>
            <a:ext cx="5046338" cy="2437501"/>
          </a:xfrm>
          <a:prstGeom prst="rect">
            <a:avLst/>
          </a:prstGeom>
        </p:spPr>
      </p:pic>
      <p:cxnSp>
        <p:nvCxnSpPr>
          <p:cNvPr id="26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3058555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29D2FE-E644-4F9A-AED2-ABFA60C965EA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1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30442" r="5290" b="29504"/>
          <a:stretch/>
        </p:blipFill>
        <p:spPr bwMode="auto">
          <a:xfrm>
            <a:off x="6702289" y="142570"/>
            <a:ext cx="623345" cy="28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_title"/>
          <p:cNvSpPr txBox="1"/>
          <p:nvPr/>
        </p:nvSpPr>
        <p:spPr>
          <a:xfrm>
            <a:off x="511422" y="442500"/>
            <a:ext cx="7650000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ko-KR" altLang="en-US" sz="27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대시보드 : 시연 영상</a:t>
            </a:r>
          </a:p>
        </p:txBody>
      </p:sp>
      <p:sp>
        <p:nvSpPr>
          <p:cNvPr id="62" name="t_body"/>
          <p:cNvSpPr txBox="1"/>
          <p:nvPr/>
        </p:nvSpPr>
        <p:spPr>
          <a:xfrm>
            <a:off x="737574" y="1410000"/>
            <a:ext cx="2437500" cy="24375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endParaRPr lang="ko-KR" altLang="en-US" sz="1050" b="1" dirty="0">
              <a:solidFill>
                <a:schemeClr val="tx1">
                  <a:alpha val="82000"/>
                </a:schemeClr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63" name="t_shot"/>
          <p:cNvSpPr/>
          <p:nvPr/>
        </p:nvSpPr>
        <p:spPr>
          <a:xfrm>
            <a:off x="2343867" y="1443000"/>
            <a:ext cx="4987500" cy="2437500"/>
          </a:xfrm>
          <a:prstGeom prst="roundRect">
            <a:avLst>
              <a:gd name="adj" fmla="val 2800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ko-KR" altLang="en-US" sz="1500" b="1" dirty="0">
                <a:solidFill>
                  <a:schemeClr val="tx1">
                    <a:alpha val="55000"/>
                  </a:schemeClr>
                </a:solidFill>
                <a:latin typeface="Trebuchet MS" panose="020B0603020202020204" pitchFamily="34" charset="0"/>
                <a:ea typeface="맑은 고딕"/>
              </a:rPr>
              <a:t>▶   시연 영상  ( 3 – 4 분 )</a:t>
            </a:r>
          </a:p>
        </p:txBody>
      </p:sp>
      <p:cxnSp>
        <p:nvCxnSpPr>
          <p:cNvPr id="23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613426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7" name="Google Shape;1387;p39"/>
          <p:cNvCxnSpPr/>
          <p:nvPr/>
        </p:nvCxnSpPr>
        <p:spPr>
          <a:xfrm>
            <a:off x="270030" y="268002"/>
            <a:ext cx="462529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388" name="Google Shape;1388;p39"/>
          <p:cNvCxnSpPr/>
          <p:nvPr/>
        </p:nvCxnSpPr>
        <p:spPr>
          <a:xfrm rot="5400000">
            <a:off x="-476799" y="1014831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389" name="Google Shape;1389;p39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1390" name="Google Shape;1390;p39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391" name="Google Shape;1391;p39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cxnSp>
        <p:nvCxnSpPr>
          <p:cNvPr id="1392" name="Google Shape;1392;p39"/>
          <p:cNvCxnSpPr/>
          <p:nvPr/>
        </p:nvCxnSpPr>
        <p:spPr>
          <a:xfrm rot="-5400000">
            <a:off x="-476800" y="4128669"/>
            <a:ext cx="149366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393" name="Google Shape;1393;p39"/>
          <p:cNvCxnSpPr/>
          <p:nvPr/>
        </p:nvCxnSpPr>
        <p:spPr>
          <a:xfrm>
            <a:off x="3825171" y="4875499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394" name="Google Shape;1394;p39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95" name="Google Shape;1395;p39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396" name="Google Shape;1396;p39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397" name="Google Shape;1397;p39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398" name="Google Shape;1398;p39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399" name="Google Shape;1399;p39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400" name="Google Shape;1400;p39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1401" name="Google Shape;1401;p39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02" name="Google Shape;1402;p39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403" name="Google Shape;1403;p39"/>
          <p:cNvSpPr txBox="1"/>
          <p:nvPr/>
        </p:nvSpPr>
        <p:spPr>
          <a:xfrm>
            <a:off x="851837" y="2365259"/>
            <a:ext cx="74730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최종평가</a:t>
            </a:r>
            <a:endParaRPr sz="27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3481138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9" name="Google Shape;1409;p40"/>
          <p:cNvCxnSpPr/>
          <p:nvPr/>
        </p:nvCxnSpPr>
        <p:spPr>
          <a:xfrm>
            <a:off x="270030" y="268002"/>
            <a:ext cx="462529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10" name="Google Shape;1410;p40"/>
          <p:cNvCxnSpPr/>
          <p:nvPr/>
        </p:nvCxnSpPr>
        <p:spPr>
          <a:xfrm rot="5400000">
            <a:off x="-476799" y="1014831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411" name="Google Shape;1411;p40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1412" name="Google Shape;1412;p40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13" name="Google Shape;1413;p40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cxnSp>
        <p:nvCxnSpPr>
          <p:cNvPr id="1414" name="Google Shape;1414;p40"/>
          <p:cNvCxnSpPr/>
          <p:nvPr/>
        </p:nvCxnSpPr>
        <p:spPr>
          <a:xfrm rot="-5400000">
            <a:off x="-476800" y="4128669"/>
            <a:ext cx="149366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15" name="Google Shape;1415;p40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416" name="Google Shape;1416;p40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417" name="Google Shape;1417;p40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18" name="Google Shape;1418;p40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419" name="Google Shape;1419;p40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420" name="Google Shape;1420;p40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21" name="Google Shape;1421;p40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422" name="Google Shape;1422;p40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1423" name="Google Shape;1423;p40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24" name="Google Shape;1424;p40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425" name="Google Shape;1425;p40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최종 평가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40"/>
          <p:cNvSpPr txBox="1"/>
          <p:nvPr/>
        </p:nvSpPr>
        <p:spPr>
          <a:xfrm>
            <a:off x="753683" y="1258414"/>
            <a:ext cx="500700" cy="231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40"/>
          <p:cNvSpPr txBox="1"/>
          <p:nvPr/>
        </p:nvSpPr>
        <p:spPr>
          <a:xfrm>
            <a:off x="1418245" y="1258436"/>
            <a:ext cx="6900300" cy="13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자동화된 웹 취약점 진단 환경 구축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SSLC 교육 플랫폼을 기반으로 취약한 웹 미러 사이트 구축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Docker 기반 환경에서 웹 서비스 및 내부 검증 환경 구성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 Injection, XSS, SSRF, 인증·권한, 파일 업로드/다운로드 등 주요 취약점 진단 기능 구현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8" name="Google Shape;1428;p40"/>
          <p:cNvSpPr txBox="1"/>
          <p:nvPr/>
        </p:nvSpPr>
        <p:spPr>
          <a:xfrm>
            <a:off x="899592" y="195921"/>
            <a:ext cx="227117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ROOKIESCAN / 취약점 싹쓰리</a:t>
            </a: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29" name="Google Shape;1429;p40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3" t="30442" r="5290" b="29504"/>
          <a:stretch/>
        </p:blipFill>
        <p:spPr>
          <a:xfrm>
            <a:off x="6702290" y="142570"/>
            <a:ext cx="623344" cy="280510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p40"/>
          <p:cNvSpPr txBox="1"/>
          <p:nvPr/>
        </p:nvSpPr>
        <p:spPr>
          <a:xfrm>
            <a:off x="3170775" y="566050"/>
            <a:ext cx="5387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웹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취약점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탐색부터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시각화까지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이어지는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자동화된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진단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파이프라인을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구축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1" name="Google Shape;1431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966" y="2459936"/>
            <a:ext cx="3629681" cy="232416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32" name="Google Shape;1432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57051" y="2459925"/>
            <a:ext cx="4175673" cy="228494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345124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9" name="Google Shape;1439;p41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40" name="Google Shape;1440;p41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441" name="Google Shape;1441;p41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1442" name="Google Shape;1442;p41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43" name="Google Shape;1443;p41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cxnSp>
        <p:nvCxnSpPr>
          <p:cNvPr id="1444" name="Google Shape;1444;p41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45" name="Google Shape;1445;p41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446" name="Google Shape;1446;p41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1447" name="Google Shape;1447;p41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48" name="Google Shape;1448;p41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449" name="Google Shape;1449;p41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1450" name="Google Shape;1450;p41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51" name="Google Shape;1451;p41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452" name="Google Shape;1452;p41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1453" name="Google Shape;1453;p41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54" name="Google Shape;1454;p41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455" name="Google Shape;1455;p41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최종 평가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41"/>
          <p:cNvSpPr txBox="1"/>
          <p:nvPr/>
        </p:nvSpPr>
        <p:spPr>
          <a:xfrm>
            <a:off x="753641" y="1245449"/>
            <a:ext cx="500700" cy="231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41"/>
          <p:cNvSpPr txBox="1"/>
          <p:nvPr/>
        </p:nvSpPr>
        <p:spPr>
          <a:xfrm>
            <a:off x="1443652" y="1245446"/>
            <a:ext cx="6900300" cy="13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기반 취약점 분석 및 판정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스캐너별 진단 결과를 통합하여 AI 분석에 활용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 요청·응답 및 검증 데이터를 기반으로 취약점 여부 판단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VULNERABLE / PASS / REVIEW / ERROR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형태로 결과 표준화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58" name="Google Shape;1458;p41"/>
          <p:cNvSpPr txBox="1"/>
          <p:nvPr/>
        </p:nvSpPr>
        <p:spPr>
          <a:xfrm>
            <a:off x="899592" y="195921"/>
            <a:ext cx="2271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ROOKIESCAN / 취약점 싹쓰리</a:t>
            </a: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59" name="Google Shape;1459;p41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41"/>
          <p:cNvSpPr txBox="1"/>
          <p:nvPr/>
        </p:nvSpPr>
        <p:spPr>
          <a:xfrm>
            <a:off x="3170775" y="566050"/>
            <a:ext cx="5387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웹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취약점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탐색부터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시각화까지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이어지는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자동화된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진단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파이프라인을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구축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1" name="Google Shape;1461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1582" y="2413496"/>
            <a:ext cx="3189411" cy="233715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62" name="Google Shape;1462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21051" y="2413500"/>
            <a:ext cx="3141536" cy="23371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6265374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8" name="Google Shape;1468;p42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69" name="Google Shape;1469;p42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470" name="Google Shape;1470;p42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1471" name="Google Shape;1471;p42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72" name="Google Shape;1472;p42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cxnSp>
        <p:nvCxnSpPr>
          <p:cNvPr id="1473" name="Google Shape;1473;p42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74" name="Google Shape;1474;p42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475" name="Google Shape;1475;p42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1476" name="Google Shape;1476;p42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77" name="Google Shape;1477;p42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478" name="Google Shape;1478;p42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1479" name="Google Shape;1479;p42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80" name="Google Shape;1480;p42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481" name="Google Shape;1481;p42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1482" name="Google Shape;1482;p42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83" name="Google Shape;1483;p42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484" name="Google Shape;1484;p42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최종 평가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42"/>
          <p:cNvSpPr txBox="1"/>
          <p:nvPr/>
        </p:nvSpPr>
        <p:spPr>
          <a:xfrm>
            <a:off x="766372" y="1245448"/>
            <a:ext cx="500700" cy="231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42"/>
          <p:cNvSpPr txBox="1"/>
          <p:nvPr/>
        </p:nvSpPr>
        <p:spPr>
          <a:xfrm>
            <a:off x="1430934" y="1245445"/>
            <a:ext cx="6900300" cy="13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스캐너 통합 및 결과 시각화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개별 취약점 스캐너를 하나의 파이프라인으로 통합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진단 결과를 JSON 형태로 저장 및 관리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대시보드를 통해 진단 결과를 확인할 수 있도록 구현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87" name="Google Shape;1487;p42"/>
          <p:cNvSpPr txBox="1"/>
          <p:nvPr/>
        </p:nvSpPr>
        <p:spPr>
          <a:xfrm>
            <a:off x="899592" y="195921"/>
            <a:ext cx="2271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ROOKIESCAN / 취약점 싹쓰리</a:t>
            </a: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88" name="Google Shape;1488;p42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9" name="Google Shape;1489;p42"/>
          <p:cNvSpPr txBox="1"/>
          <p:nvPr/>
        </p:nvSpPr>
        <p:spPr>
          <a:xfrm>
            <a:off x="3170775" y="566050"/>
            <a:ext cx="5387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웹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취약점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탐색부터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시각화까지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이어지는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자동화된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진단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파이프라인을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구축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0" name="Google Shape;1490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0495" y="2413495"/>
            <a:ext cx="2385008" cy="233715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91" name="Google Shape;1491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55728" y="2413495"/>
            <a:ext cx="2547926" cy="233715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2183853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7" name="Google Shape;1497;p43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98" name="Google Shape;1498;p43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499" name="Google Shape;1499;p43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1500" name="Google Shape;1500;p43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01" name="Google Shape;1501;p43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cxnSp>
        <p:nvCxnSpPr>
          <p:cNvPr id="1502" name="Google Shape;1502;p43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503" name="Google Shape;1503;p43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504" name="Google Shape;1504;p43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1505" name="Google Shape;1505;p43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06" name="Google Shape;1506;p43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507" name="Google Shape;1507;p43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1508" name="Google Shape;1508;p43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09" name="Google Shape;1509;p43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510" name="Google Shape;1510;p43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1511" name="Google Shape;1511;p43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12" name="Google Shape;1512;p43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513" name="Google Shape;1513;p43"/>
          <p:cNvSpPr txBox="1"/>
          <p:nvPr/>
        </p:nvSpPr>
        <p:spPr>
          <a:xfrm>
            <a:off x="511422" y="435899"/>
            <a:ext cx="8121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27262E"/>
                </a:solidFill>
                <a:latin typeface="Trebuchet MS"/>
                <a:ea typeface="Trebuchet MS"/>
                <a:cs typeface="Trebuchet MS"/>
                <a:sym typeface="Trebuchet MS"/>
              </a:rPr>
              <a:t>한계 및 배운 점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43"/>
          <p:cNvSpPr txBox="1"/>
          <p:nvPr/>
        </p:nvSpPr>
        <p:spPr>
          <a:xfrm>
            <a:off x="899592" y="195921"/>
            <a:ext cx="2271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ROOKIESCAN / 취약점 싹쓰리</a:t>
            </a: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15" name="Google Shape;1515;p43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1720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1" name="Google Shape;1521;p44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522" name="Google Shape;1522;p44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523" name="Google Shape;1523;p44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1524" name="Google Shape;1524;p44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25" name="Google Shape;1525;p44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cxnSp>
        <p:nvCxnSpPr>
          <p:cNvPr id="1526" name="Google Shape;1526;p44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527" name="Google Shape;1527;p44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528" name="Google Shape;1528;p44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1529" name="Google Shape;1529;p44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30" name="Google Shape;1530;p44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531" name="Google Shape;1531;p44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1532" name="Google Shape;1532;p44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33" name="Google Shape;1533;p44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534" name="Google Shape;1534;p44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1535" name="Google Shape;1535;p44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36" name="Google Shape;1536;p44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537" name="Google Shape;1537;p44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추후 개선 방향 </a:t>
            </a:r>
            <a:endParaRPr sz="1100" b="0" i="0" u="none" strike="noStrike" cap="none">
              <a:solidFill>
                <a:srgbClr val="000000"/>
              </a:solidFill>
              <a:latin typeface="Trebuchet MS" panose="020B0603020202020204" pitchFamily="34" charset="0"/>
              <a:sym typeface="Arial"/>
            </a:endParaRPr>
          </a:p>
        </p:txBody>
      </p:sp>
      <p:sp>
        <p:nvSpPr>
          <p:cNvPr id="1538" name="Google Shape;1538;p44"/>
          <p:cNvSpPr txBox="1"/>
          <p:nvPr/>
        </p:nvSpPr>
        <p:spPr>
          <a:xfrm>
            <a:off x="899592" y="195921"/>
            <a:ext cx="2271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ROOKIESCAN / 취약점 싹쓰리</a:t>
            </a:r>
            <a:endParaRPr sz="1100" b="0" i="0" u="none" strike="noStrike" cap="none">
              <a:solidFill>
                <a:schemeClr val="dk1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39" name="Google Shape;1539;p44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44"/>
          <p:cNvSpPr txBox="1"/>
          <p:nvPr/>
        </p:nvSpPr>
        <p:spPr>
          <a:xfrm>
            <a:off x="2643600" y="551100"/>
            <a:ext cx="5989122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실제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취약점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진단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환경에서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발생할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수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있는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인증·환경·판정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문제를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수정하면서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스캐너의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안정성을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개선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endParaRPr sz="1000" b="0" i="0" u="none" strike="noStrike" cap="none" dirty="0">
              <a:solidFill>
                <a:srgbClr val="000000"/>
              </a:solidFill>
              <a:latin typeface="Trebuchet MS" panose="020B0603020202020204" pitchFamily="34" charset="0"/>
              <a:sym typeface="Arial"/>
            </a:endParaRPr>
          </a:p>
        </p:txBody>
      </p:sp>
      <p:pic>
        <p:nvPicPr>
          <p:cNvPr id="1541" name="Google Shape;1541;p44" title="ROOKIEscan_추후개선방향_오타수정완료.png"/>
          <p:cNvPicPr preferRelativeResize="0"/>
          <p:nvPr/>
        </p:nvPicPr>
        <p:blipFill rotWithShape="1">
          <a:blip r:embed="rId4">
            <a:alphaModFix/>
          </a:blip>
          <a:srcRect l="770" r="562"/>
          <a:stretch/>
        </p:blipFill>
        <p:spPr>
          <a:xfrm>
            <a:off x="622025" y="1202775"/>
            <a:ext cx="7900099" cy="33597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18742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8" name="Google Shape;1548;p45"/>
          <p:cNvCxnSpPr/>
          <p:nvPr/>
        </p:nvCxnSpPr>
        <p:spPr>
          <a:xfrm>
            <a:off x="270030" y="268002"/>
            <a:ext cx="462529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549" name="Google Shape;1549;p45"/>
          <p:cNvCxnSpPr/>
          <p:nvPr/>
        </p:nvCxnSpPr>
        <p:spPr>
          <a:xfrm rot="5400000">
            <a:off x="-476799" y="1014831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550" name="Google Shape;1550;p4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1551" name="Google Shape;1551;p45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52" name="Google Shape;1552;p45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cxnSp>
        <p:nvCxnSpPr>
          <p:cNvPr id="1553" name="Google Shape;1553;p45"/>
          <p:cNvCxnSpPr/>
          <p:nvPr/>
        </p:nvCxnSpPr>
        <p:spPr>
          <a:xfrm rot="-5400000">
            <a:off x="-476800" y="4128669"/>
            <a:ext cx="149366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554" name="Google Shape;1554;p45"/>
          <p:cNvCxnSpPr/>
          <p:nvPr/>
        </p:nvCxnSpPr>
        <p:spPr>
          <a:xfrm>
            <a:off x="3825171" y="4875499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555" name="Google Shape;1555;p45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556" name="Google Shape;1556;p45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57" name="Google Shape;1557;p45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558" name="Google Shape;1558;p45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559" name="Google Shape;1559;p45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60" name="Google Shape;1560;p45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561" name="Google Shape;1561;p45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1562" name="Google Shape;1562;p45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63" name="Google Shape;1563;p45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564" name="Google Shape;1564;p45"/>
          <p:cNvSpPr txBox="1"/>
          <p:nvPr/>
        </p:nvSpPr>
        <p:spPr>
          <a:xfrm>
            <a:off x="851837" y="2365259"/>
            <a:ext cx="74730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Q&amp;A</a:t>
            </a:r>
            <a:endParaRPr sz="27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65" name="Google Shape;1565;p45"/>
          <p:cNvSpPr txBox="1"/>
          <p:nvPr/>
        </p:nvSpPr>
        <p:spPr>
          <a:xfrm>
            <a:off x="6253622" y="3638963"/>
            <a:ext cx="1949584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감사합니다.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474382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JAY DESIGN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4070</Words>
  <Application>Microsoft Office PowerPoint</Application>
  <PresentationFormat>화면 슬라이드 쇼(16:9)</PresentationFormat>
  <Paragraphs>667</Paragraphs>
  <Slides>45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45</vt:i4>
      </vt:variant>
    </vt:vector>
  </HeadingPairs>
  <TitlesOfParts>
    <vt:vector size="52" baseType="lpstr">
      <vt:lpstr>Wingdings</vt:lpstr>
      <vt:lpstr>Arial</vt:lpstr>
      <vt:lpstr>Roboto Mono</vt:lpstr>
      <vt:lpstr>Trebuchet MS</vt:lpstr>
      <vt:lpstr>Calibri</vt:lpstr>
      <vt:lpstr>Simple Light</vt:lpstr>
      <vt:lpstr>JAY DESIGN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배소윤</dc:creator>
  <cp:lastModifiedBy>EZ</cp:lastModifiedBy>
  <cp:revision>10</cp:revision>
  <dcterms:modified xsi:type="dcterms:W3CDTF">2026-10-07T01:31:18Z</dcterms:modified>
</cp:coreProperties>
</file>